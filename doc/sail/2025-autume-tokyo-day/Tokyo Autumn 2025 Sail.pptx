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6" r:id="rId3"/>
  </p:sldIdLst>
  <p:sldSz cx="30275530" cy="42803445"/>
  <p:notesSz cx="6858000" cy="9144000"/>
  <p:custDataLst>
    <p:tags r:id="rId8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7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15925" lvl="1" indent="41275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7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831850" lvl="2" indent="8255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7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247775" lvl="3" indent="123825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7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663700" lvl="4" indent="16510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7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16510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7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16510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7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16510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7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16510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7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1" userDrawn="1">
          <p15:clr>
            <a:srgbClr val="A4A3A4"/>
          </p15:clr>
        </p15:guide>
        <p15:guide id="2" pos="95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DCE8F5"/>
    <a:srgbClr val="D1D1F0"/>
    <a:srgbClr val="FFCEA4"/>
    <a:srgbClr val="E09EE9"/>
    <a:srgbClr val="ABEBB3"/>
    <a:srgbClr val="426877"/>
    <a:srgbClr val="99C7F0"/>
    <a:srgbClr val="A7D8DE"/>
    <a:srgbClr val="B1D6C6"/>
    <a:srgbClr val="176B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8181"/>
    <p:restoredTop sz="94660"/>
  </p:normalViewPr>
  <p:slideViewPr>
    <p:cSldViewPr snapToGrid="0" snapToObjects="1" showGuides="1">
      <p:cViewPr varScale="1">
        <p:scale>
          <a:sx n="14" d="100"/>
          <a:sy n="14" d="100"/>
        </p:scale>
        <p:origin x="1915" y="168"/>
      </p:cViewPr>
      <p:guideLst>
        <p:guide orient="horz" pos="13481"/>
        <p:guide pos="95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8F19AD6-357B-4E4E-9AC9-FD0572FEB94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/>
          </p:cNvSpPr>
          <p:nvPr>
            <p:ph type="sldImg" idx="2"/>
          </p:nvPr>
        </p:nvSpPr>
        <p:spPr>
          <a:xfrm>
            <a:off x="2216305" y="685800"/>
            <a:ext cx="242539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415925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83185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247775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6637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1A918D4-D8A1-48DA-90A2-42161825DAF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15925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831850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247775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663700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080260" algn="l" defTabSz="83185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496185" algn="l" defTabSz="83185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12110" algn="l" defTabSz="83185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328035" algn="l" defTabSz="83185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784315" y="7004498"/>
            <a:ext cx="22707371" cy="14902438"/>
          </a:xfrm>
        </p:spPr>
        <p:txBody>
          <a:bodyPr anchor="b"/>
          <a:lstStyle>
            <a:lvl1pPr algn="ctr">
              <a:defRPr sz="743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784315" y="22482637"/>
            <a:ext cx="22707371" cy="10334496"/>
          </a:xfrm>
        </p:spPr>
        <p:txBody>
          <a:bodyPr/>
          <a:lstStyle>
            <a:lvl1pPr marL="0" indent="0" algn="ctr">
              <a:buNone/>
              <a:defRPr sz="2975"/>
            </a:lvl1pPr>
            <a:lvl2pPr marL="561975" indent="0" algn="ctr">
              <a:buNone/>
              <a:defRPr sz="2570"/>
            </a:lvl2pPr>
            <a:lvl3pPr marL="1125220" indent="0" algn="ctr">
              <a:buNone/>
              <a:defRPr sz="2305"/>
            </a:lvl3pPr>
            <a:lvl4pPr marL="1687195" indent="0" algn="ctr">
              <a:buNone/>
              <a:defRPr sz="1890"/>
            </a:lvl4pPr>
            <a:lvl5pPr marL="2249170" indent="0" algn="ctr">
              <a:buNone/>
              <a:defRPr sz="1890"/>
            </a:lvl5pPr>
            <a:lvl6pPr marL="2812415" indent="0" algn="ctr">
              <a:buNone/>
              <a:defRPr sz="1890"/>
            </a:lvl6pPr>
            <a:lvl7pPr marL="3374390" indent="0" algn="ctr">
              <a:buNone/>
              <a:defRPr sz="1890"/>
            </a:lvl7pPr>
            <a:lvl8pPr marL="3936365" indent="0" algn="ctr">
              <a:buNone/>
              <a:defRPr sz="1890"/>
            </a:lvl8pPr>
            <a:lvl9pPr marL="4499610" indent="0" algn="ctr">
              <a:buNone/>
              <a:defRPr sz="189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12513" y="38982215"/>
            <a:ext cx="7066975" cy="2972500"/>
          </a:xfrm>
          <a:prstGeom prst="rect">
            <a:avLst/>
          </a:prstGeom>
        </p:spPr>
        <p:txBody>
          <a:bodyPr vert="horz" wrap="square" lIns="393061" tIns="196530" rIns="393061" bIns="19653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9B33151-9A15-412A-A725-D6326430A32A}" type="datetime1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45159" y="38982215"/>
            <a:ext cx="9585684" cy="2972500"/>
          </a:xfrm>
          <a:prstGeom prst="rect">
            <a:avLst/>
          </a:prstGeom>
        </p:spPr>
        <p:txBody>
          <a:bodyPr vert="horz" wrap="square" lIns="393061" tIns="196530" rIns="393061" bIns="19653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696514" y="38982215"/>
            <a:ext cx="7066975" cy="2972500"/>
          </a:xfrm>
          <a:prstGeom prst="rect">
            <a:avLst/>
          </a:prstGeom>
        </p:spPr>
        <p:txBody>
          <a:bodyPr vert="horz" wrap="square" lIns="393061" tIns="196530" rIns="393061" bIns="19653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CF27412-A7EB-4261-B675-FA5A03B0099C}" type="slidenum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B576A3A-1EBE-4173-A795-2D0FDDDD978F}" type="datetime1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42354E-C934-4E98-A3D6-78422948EC2A}" type="slidenum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64983" y="10671122"/>
            <a:ext cx="26113404" cy="17806162"/>
          </a:xfrm>
        </p:spPr>
        <p:txBody>
          <a:bodyPr anchor="b"/>
          <a:lstStyle>
            <a:lvl1pPr>
              <a:defRPr sz="743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064983" y="28645585"/>
            <a:ext cx="26113404" cy="9362396"/>
          </a:xfrm>
        </p:spPr>
        <p:txBody>
          <a:bodyPr/>
          <a:lstStyle>
            <a:lvl1pPr marL="0" indent="0">
              <a:buNone/>
              <a:defRPr sz="2975"/>
            </a:lvl1pPr>
            <a:lvl2pPr marL="561975" indent="0">
              <a:buNone/>
              <a:defRPr sz="2570"/>
            </a:lvl2pPr>
            <a:lvl3pPr marL="1125220" indent="0">
              <a:buNone/>
              <a:defRPr sz="2305"/>
            </a:lvl3pPr>
            <a:lvl4pPr marL="1687195" indent="0">
              <a:buNone/>
              <a:defRPr sz="1890"/>
            </a:lvl4pPr>
            <a:lvl5pPr marL="2249170" indent="0">
              <a:buNone/>
              <a:defRPr sz="1890"/>
            </a:lvl5pPr>
            <a:lvl6pPr marL="2812415" indent="0">
              <a:buNone/>
              <a:defRPr sz="1890"/>
            </a:lvl6pPr>
            <a:lvl7pPr marL="3374390" indent="0">
              <a:buNone/>
              <a:defRPr sz="1890"/>
            </a:lvl7pPr>
            <a:lvl8pPr marL="3936365" indent="0">
              <a:buNone/>
              <a:defRPr sz="1890"/>
            </a:lvl8pPr>
            <a:lvl9pPr marL="4499610" indent="0">
              <a:buNone/>
              <a:defRPr sz="189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B576A3A-1EBE-4173-A795-2D0FDDDD978F}" type="datetime1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42354E-C934-4E98-A3D6-78422948EC2A}" type="slidenum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13132" y="9988443"/>
            <a:ext cx="13552920" cy="2824919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5208469" y="9988443"/>
            <a:ext cx="13554404" cy="2824919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B576A3A-1EBE-4173-A795-2D0FDDDD978F}" type="datetime1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42354E-C934-4E98-A3D6-78422948EC2A}" type="slidenum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85749" y="2279255"/>
            <a:ext cx="26113404" cy="827388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085750" y="10493372"/>
            <a:ext cx="12808221" cy="5142081"/>
          </a:xfrm>
        </p:spPr>
        <p:txBody>
          <a:bodyPr anchor="b"/>
          <a:lstStyle>
            <a:lvl1pPr marL="0" indent="0">
              <a:buNone/>
              <a:defRPr sz="2975" b="1"/>
            </a:lvl1pPr>
            <a:lvl2pPr marL="561975" indent="0">
              <a:buNone/>
              <a:defRPr sz="2570" b="1"/>
            </a:lvl2pPr>
            <a:lvl3pPr marL="1125220" indent="0">
              <a:buNone/>
              <a:defRPr sz="2305" b="1"/>
            </a:lvl3pPr>
            <a:lvl4pPr marL="1687195" indent="0">
              <a:buNone/>
              <a:defRPr sz="1890" b="1"/>
            </a:lvl4pPr>
            <a:lvl5pPr marL="2249170" indent="0">
              <a:buNone/>
              <a:defRPr sz="1890" b="1"/>
            </a:lvl5pPr>
            <a:lvl6pPr marL="2812415" indent="0">
              <a:buNone/>
              <a:defRPr sz="1890" b="1"/>
            </a:lvl6pPr>
            <a:lvl7pPr marL="3374390" indent="0">
              <a:buNone/>
              <a:defRPr sz="1890" b="1"/>
            </a:lvl7pPr>
            <a:lvl8pPr marL="3936365" indent="0">
              <a:buNone/>
              <a:defRPr sz="1890" b="1"/>
            </a:lvl8pPr>
            <a:lvl9pPr marL="4499610" indent="0">
              <a:buNone/>
              <a:defRPr sz="189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085750" y="15635449"/>
            <a:ext cx="12808221" cy="229970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15327143" y="10493372"/>
            <a:ext cx="12872012" cy="5142081"/>
          </a:xfrm>
        </p:spPr>
        <p:txBody>
          <a:bodyPr anchor="b"/>
          <a:lstStyle>
            <a:lvl1pPr marL="0" indent="0">
              <a:buNone/>
              <a:defRPr sz="2975" b="1"/>
            </a:lvl1pPr>
            <a:lvl2pPr marL="561975" indent="0">
              <a:buNone/>
              <a:defRPr sz="2570" b="1"/>
            </a:lvl2pPr>
            <a:lvl3pPr marL="1125220" indent="0">
              <a:buNone/>
              <a:defRPr sz="2305" b="1"/>
            </a:lvl3pPr>
            <a:lvl4pPr marL="1687195" indent="0">
              <a:buNone/>
              <a:defRPr sz="1890" b="1"/>
            </a:lvl4pPr>
            <a:lvl5pPr marL="2249170" indent="0">
              <a:buNone/>
              <a:defRPr sz="1890" b="1"/>
            </a:lvl5pPr>
            <a:lvl6pPr marL="2812415" indent="0">
              <a:buNone/>
              <a:defRPr sz="1890" b="1"/>
            </a:lvl6pPr>
            <a:lvl7pPr marL="3374390" indent="0">
              <a:buNone/>
              <a:defRPr sz="1890" b="1"/>
            </a:lvl7pPr>
            <a:lvl8pPr marL="3936365" indent="0">
              <a:buNone/>
              <a:defRPr sz="1890" b="1"/>
            </a:lvl8pPr>
            <a:lvl9pPr marL="4499610" indent="0">
              <a:buNone/>
              <a:defRPr sz="189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15327143" y="15635449"/>
            <a:ext cx="12872012" cy="229970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B576A3A-1EBE-4173-A795-2D0FDDDD978F}" type="datetime1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42354E-C934-4E98-A3D6-78422948EC2A}" type="slidenum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B576A3A-1EBE-4173-A795-2D0FDDDD978F}" type="datetime1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42354E-C934-4E98-A3D6-78422948EC2A}" type="slidenum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B576A3A-1EBE-4173-A795-2D0FDDDD978F}" type="datetime1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42354E-C934-4E98-A3D6-78422948EC2A}" type="slidenum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85756" y="2853391"/>
            <a:ext cx="9764155" cy="9988440"/>
          </a:xfrm>
        </p:spPr>
        <p:txBody>
          <a:bodyPr anchor="b"/>
          <a:lstStyle>
            <a:lvl1pPr>
              <a:defRPr sz="392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870529" y="6162952"/>
            <a:ext cx="15328628" cy="30418337"/>
          </a:xfrm>
        </p:spPr>
        <p:txBody>
          <a:bodyPr/>
          <a:lstStyle>
            <a:lvl1pPr>
              <a:defRPr sz="3920"/>
            </a:lvl1pPr>
            <a:lvl2pPr>
              <a:defRPr sz="3385"/>
            </a:lvl2pPr>
            <a:lvl3pPr>
              <a:defRPr sz="2975"/>
            </a:lvl3pPr>
            <a:lvl4pPr>
              <a:defRPr sz="2570"/>
            </a:lvl4pPr>
            <a:lvl5pPr>
              <a:defRPr sz="2570"/>
            </a:lvl5pPr>
            <a:lvl6pPr>
              <a:defRPr sz="2570"/>
            </a:lvl6pPr>
            <a:lvl7pPr>
              <a:defRPr sz="2570"/>
            </a:lvl7pPr>
            <a:lvl8pPr>
              <a:defRPr sz="2570"/>
            </a:lvl8pPr>
            <a:lvl9pPr>
              <a:defRPr sz="257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85756" y="12841835"/>
            <a:ext cx="9764155" cy="23789788"/>
          </a:xfrm>
        </p:spPr>
        <p:txBody>
          <a:bodyPr/>
          <a:lstStyle>
            <a:lvl1pPr marL="0" indent="0">
              <a:buNone/>
              <a:defRPr sz="1890"/>
            </a:lvl1pPr>
            <a:lvl2pPr marL="561975" indent="0">
              <a:buNone/>
              <a:defRPr sz="1755"/>
            </a:lvl2pPr>
            <a:lvl3pPr marL="1125220" indent="0">
              <a:buNone/>
              <a:defRPr sz="1480"/>
            </a:lvl3pPr>
            <a:lvl4pPr marL="1687195" indent="0">
              <a:buNone/>
              <a:defRPr sz="1215"/>
            </a:lvl4pPr>
            <a:lvl5pPr marL="2249170" indent="0">
              <a:buNone/>
              <a:defRPr sz="1215"/>
            </a:lvl5pPr>
            <a:lvl6pPr marL="2812415" indent="0">
              <a:buNone/>
              <a:defRPr sz="1215"/>
            </a:lvl6pPr>
            <a:lvl7pPr marL="3374390" indent="0">
              <a:buNone/>
              <a:defRPr sz="1215"/>
            </a:lvl7pPr>
            <a:lvl8pPr marL="3936365" indent="0">
              <a:buNone/>
              <a:defRPr sz="1215"/>
            </a:lvl8pPr>
            <a:lvl9pPr marL="4499610" indent="0">
              <a:buNone/>
              <a:defRPr sz="121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B576A3A-1EBE-4173-A795-2D0FDDDD978F}" type="datetime1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42354E-C934-4E98-A3D6-78422948EC2A}" type="slidenum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85756" y="2853391"/>
            <a:ext cx="9764155" cy="9988440"/>
          </a:xfrm>
        </p:spPr>
        <p:txBody>
          <a:bodyPr anchor="b"/>
          <a:lstStyle>
            <a:lvl1pPr>
              <a:defRPr sz="392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2870529" y="6162952"/>
            <a:ext cx="15328628" cy="30418337"/>
          </a:xfrm>
        </p:spPr>
        <p:txBody>
          <a:bodyPr vert="horz" wrap="square" lIns="393061" tIns="196530" rIns="393061" bIns="196530" numCol="1" anchor="t" anchorCtr="0" compatLnSpc="1"/>
          <a:lstStyle>
            <a:lvl1pPr marL="0" indent="0">
              <a:buNone/>
              <a:defRPr sz="3920"/>
            </a:lvl1pPr>
            <a:lvl2pPr marL="561975" indent="0">
              <a:buNone/>
              <a:defRPr sz="3385"/>
            </a:lvl2pPr>
            <a:lvl3pPr marL="1125220" indent="0">
              <a:buNone/>
              <a:defRPr sz="2975"/>
            </a:lvl3pPr>
            <a:lvl4pPr marL="1687195" indent="0">
              <a:buNone/>
              <a:defRPr sz="2570"/>
            </a:lvl4pPr>
            <a:lvl5pPr marL="2249170" indent="0">
              <a:buNone/>
              <a:defRPr sz="2570"/>
            </a:lvl5pPr>
            <a:lvl6pPr marL="2812415" indent="0">
              <a:buNone/>
              <a:defRPr sz="2570"/>
            </a:lvl6pPr>
            <a:lvl7pPr marL="3374390" indent="0">
              <a:buNone/>
              <a:defRPr sz="2570"/>
            </a:lvl7pPr>
            <a:lvl8pPr marL="3936365" indent="0">
              <a:buNone/>
              <a:defRPr sz="2570"/>
            </a:lvl8pPr>
            <a:lvl9pPr marL="4499610" indent="0">
              <a:buNone/>
              <a:defRPr sz="2570"/>
            </a:lvl9pPr>
          </a:lstStyle>
          <a:p>
            <a:pPr marL="0" marR="0" lvl="0" indent="0" algn="l" defTabSz="39293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85756" y="12841835"/>
            <a:ext cx="9764155" cy="23789788"/>
          </a:xfrm>
        </p:spPr>
        <p:txBody>
          <a:bodyPr/>
          <a:lstStyle>
            <a:lvl1pPr marL="0" indent="0">
              <a:buNone/>
              <a:defRPr sz="1890"/>
            </a:lvl1pPr>
            <a:lvl2pPr marL="561975" indent="0">
              <a:buNone/>
              <a:defRPr sz="1755"/>
            </a:lvl2pPr>
            <a:lvl3pPr marL="1125220" indent="0">
              <a:buNone/>
              <a:defRPr sz="1480"/>
            </a:lvl3pPr>
            <a:lvl4pPr marL="1687195" indent="0">
              <a:buNone/>
              <a:defRPr sz="1215"/>
            </a:lvl4pPr>
            <a:lvl5pPr marL="2249170" indent="0">
              <a:buNone/>
              <a:defRPr sz="1215"/>
            </a:lvl5pPr>
            <a:lvl6pPr marL="2812415" indent="0">
              <a:buNone/>
              <a:defRPr sz="1215"/>
            </a:lvl6pPr>
            <a:lvl7pPr marL="3374390" indent="0">
              <a:buNone/>
              <a:defRPr sz="1215"/>
            </a:lvl7pPr>
            <a:lvl8pPr marL="3936365" indent="0">
              <a:buNone/>
              <a:defRPr sz="1215"/>
            </a:lvl8pPr>
            <a:lvl9pPr marL="4499610" indent="0">
              <a:buNone/>
              <a:defRPr sz="121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B576A3A-1EBE-4173-A795-2D0FDDDD978F}" type="datetime1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42354E-C934-4E98-A3D6-78422948EC2A}" type="slidenum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B576A3A-1EBE-4173-A795-2D0FDDDD978F}" type="datetime1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42354E-C934-4E98-A3D6-78422948EC2A}" type="slidenum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21950805" y="1716133"/>
            <a:ext cx="6812065" cy="3652150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13138" y="1716133"/>
            <a:ext cx="20295262" cy="3652150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B576A3A-1EBE-4173-A795-2D0FDDDD978F}" type="datetime1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42354E-C934-4E98-A3D6-78422948EC2A}" type="slidenum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027" name="Rectangle 2"/>
          <p:cNvSpPr>
            <a:spLocks noGrp="1"/>
          </p:cNvSpPr>
          <p:nvPr>
            <p:ph type="title"/>
          </p:nvPr>
        </p:nvSpPr>
        <p:spPr>
          <a:xfrm>
            <a:off x="1512513" y="1716097"/>
            <a:ext cx="27250976" cy="7134000"/>
          </a:xfrm>
          <a:prstGeom prst="rect">
            <a:avLst/>
          </a:prstGeom>
          <a:noFill/>
          <a:ln w="9525">
            <a:noFill/>
          </a:ln>
        </p:spPr>
        <p:txBody>
          <a:bodyPr lIns="393061" tIns="196530" rIns="393061" bIns="196530" anchor="ctr" anchorCtr="0"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28" name="Rectangle 3"/>
          <p:cNvSpPr>
            <a:spLocks noGrp="1"/>
          </p:cNvSpPr>
          <p:nvPr>
            <p:ph type="body" idx="1"/>
          </p:nvPr>
        </p:nvSpPr>
        <p:spPr>
          <a:xfrm>
            <a:off x="1512513" y="9987870"/>
            <a:ext cx="27250976" cy="28250209"/>
          </a:xfrm>
          <a:prstGeom prst="rect">
            <a:avLst/>
          </a:prstGeom>
          <a:noFill/>
          <a:ln w="9525">
            <a:noFill/>
          </a:ln>
        </p:spPr>
        <p:txBody>
          <a:bodyPr lIns="393061" tIns="196530" rIns="393061" bIns="196530"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12513" y="38982215"/>
            <a:ext cx="7066975" cy="2972500"/>
          </a:xfrm>
          <a:prstGeom prst="rect">
            <a:avLst/>
          </a:prstGeom>
          <a:noFill/>
          <a:ln>
            <a:noFill/>
          </a:ln>
        </p:spPr>
        <p:txBody>
          <a:bodyPr vert="horz" wrap="square" lIns="393061" tIns="196530" rIns="393061" bIns="19653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8245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B576A3A-1EBE-4173-A795-2D0FDDDD978F}" type="datetime1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45159" y="38982215"/>
            <a:ext cx="9585684" cy="2972500"/>
          </a:xfrm>
          <a:prstGeom prst="rect">
            <a:avLst/>
          </a:prstGeom>
          <a:noFill/>
          <a:ln>
            <a:noFill/>
          </a:ln>
        </p:spPr>
        <p:txBody>
          <a:bodyPr vert="horz" wrap="square" lIns="393061" tIns="196530" rIns="393061" bIns="19653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8245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696514" y="38982215"/>
            <a:ext cx="7066975" cy="2972500"/>
          </a:xfrm>
          <a:prstGeom prst="rect">
            <a:avLst/>
          </a:prstGeom>
          <a:noFill/>
          <a:ln>
            <a:noFill/>
          </a:ln>
        </p:spPr>
        <p:txBody>
          <a:bodyPr vert="horz" wrap="square" lIns="393061" tIns="196530" rIns="393061" bIns="19653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8245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42354E-C934-4E98-A3D6-78422948EC2A}" type="slidenum">
              <a:rPr kumimoji="0" lang="zh-CN" altLang="en-US" sz="6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5310505" rtl="0" eaLnBrk="0" fontAlgn="base" hangingPunct="0">
        <a:spcBef>
          <a:spcPct val="0"/>
        </a:spcBef>
        <a:spcAft>
          <a:spcPct val="0"/>
        </a:spcAft>
        <a:defRPr sz="25405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929380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3929380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3929380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3929380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15925" algn="ctr" defTabSz="3931285" rtl="0" fontAlgn="base">
        <a:spcBef>
          <a:spcPct val="0"/>
        </a:spcBef>
        <a:spcAft>
          <a:spcPct val="0"/>
        </a:spcAft>
        <a:defRPr sz="1881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832485" algn="ctr" defTabSz="3931285" rtl="0" fontAlgn="base">
        <a:spcBef>
          <a:spcPct val="0"/>
        </a:spcBef>
        <a:spcAft>
          <a:spcPct val="0"/>
        </a:spcAft>
        <a:defRPr sz="1881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248410" algn="ctr" defTabSz="3931285" rtl="0" fontAlgn="base">
        <a:spcBef>
          <a:spcPct val="0"/>
        </a:spcBef>
        <a:spcAft>
          <a:spcPct val="0"/>
        </a:spcAft>
        <a:defRPr sz="1881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664335" algn="ctr" defTabSz="3931285" rtl="0" fontAlgn="base">
        <a:spcBef>
          <a:spcPct val="0"/>
        </a:spcBef>
        <a:spcAft>
          <a:spcPct val="0"/>
        </a:spcAft>
        <a:defRPr sz="1881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1990725" indent="-1990725" algn="l" defTabSz="5310505" rtl="0" eaLnBrk="0" fontAlgn="base" hangingPunct="0">
        <a:spcBef>
          <a:spcPct val="27000"/>
        </a:spcBef>
        <a:spcAft>
          <a:spcPct val="0"/>
        </a:spcAft>
        <a:buChar char="•"/>
        <a:defRPr sz="18515" kern="1200">
          <a:solidFill>
            <a:schemeClr val="tx1"/>
          </a:solidFill>
          <a:latin typeface="+mn-lt"/>
          <a:ea typeface="+mn-ea"/>
          <a:cs typeface="+mn-cs"/>
        </a:defRPr>
      </a:lvl1pPr>
      <a:lvl2pPr marL="4314825" indent="-1658620" algn="l" defTabSz="5310505" rtl="0" eaLnBrk="0" fontAlgn="base" hangingPunct="0">
        <a:spcBef>
          <a:spcPct val="27000"/>
        </a:spcBef>
        <a:spcAft>
          <a:spcPct val="0"/>
        </a:spcAft>
        <a:buChar char="–"/>
        <a:defRPr sz="16215" kern="1200">
          <a:solidFill>
            <a:schemeClr val="tx1"/>
          </a:solidFill>
          <a:latin typeface="+mn-lt"/>
          <a:ea typeface="+mn-ea"/>
          <a:cs typeface="+mn-cs"/>
        </a:defRPr>
      </a:lvl2pPr>
      <a:lvl3pPr marL="6640195" indent="-1328420" algn="l" defTabSz="5310505" rtl="0" eaLnBrk="0" fontAlgn="base" hangingPunct="0">
        <a:spcBef>
          <a:spcPct val="27000"/>
        </a:spcBef>
        <a:spcAft>
          <a:spcPct val="0"/>
        </a:spcAft>
        <a:buChar char="•"/>
        <a:defRPr sz="13920" kern="1200">
          <a:solidFill>
            <a:schemeClr val="tx1"/>
          </a:solidFill>
          <a:latin typeface="+mn-lt"/>
          <a:ea typeface="+mn-ea"/>
          <a:cs typeface="+mn-cs"/>
        </a:defRPr>
      </a:lvl3pPr>
      <a:lvl4pPr marL="9296400" indent="-1325880" algn="l" defTabSz="5310505" rtl="0" eaLnBrk="0" fontAlgn="base" hangingPunct="0">
        <a:spcBef>
          <a:spcPct val="27000"/>
        </a:spcBef>
        <a:spcAft>
          <a:spcPct val="0"/>
        </a:spcAft>
        <a:buChar char="–"/>
        <a:defRPr sz="11620" kern="1200">
          <a:solidFill>
            <a:schemeClr val="tx1"/>
          </a:solidFill>
          <a:latin typeface="+mn-lt"/>
          <a:ea typeface="+mn-ea"/>
          <a:cs typeface="+mn-cs"/>
        </a:defRPr>
      </a:lvl4pPr>
      <a:lvl5pPr marL="11954510" indent="-1328420" algn="l" defTabSz="5310505" rtl="0" eaLnBrk="0" fontAlgn="base" hangingPunct="0">
        <a:spcBef>
          <a:spcPct val="27000"/>
        </a:spcBef>
        <a:spcAft>
          <a:spcPct val="0"/>
        </a:spcAft>
        <a:buChar char="»"/>
        <a:defRPr sz="11620" kern="1200">
          <a:solidFill>
            <a:schemeClr val="tx1"/>
          </a:solidFill>
          <a:latin typeface="+mn-lt"/>
          <a:ea typeface="+mn-ea"/>
          <a:cs typeface="+mn-cs"/>
        </a:defRPr>
      </a:lvl5pPr>
      <a:lvl6pPr marL="3093085" indent="-281305" algn="l" defTabSz="1125220" rtl="0" eaLnBrk="1" latinLnBrk="0" hangingPunct="1">
        <a:lnSpc>
          <a:spcPct val="90000"/>
        </a:lnSpc>
        <a:spcBef>
          <a:spcPct val="12500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6pPr>
      <a:lvl7pPr marL="3655695" indent="-281305" algn="l" defTabSz="1125220" rtl="0" eaLnBrk="1" latinLnBrk="0" hangingPunct="1">
        <a:lnSpc>
          <a:spcPct val="90000"/>
        </a:lnSpc>
        <a:spcBef>
          <a:spcPct val="12500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7pPr>
      <a:lvl8pPr marL="4217670" indent="-281305" algn="l" defTabSz="1125220" rtl="0" eaLnBrk="1" latinLnBrk="0" hangingPunct="1">
        <a:lnSpc>
          <a:spcPct val="90000"/>
        </a:lnSpc>
        <a:spcBef>
          <a:spcPct val="12500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8pPr>
      <a:lvl9pPr marL="4780280" indent="-281305" algn="l" defTabSz="1125220" rtl="0" eaLnBrk="1" latinLnBrk="0" hangingPunct="1">
        <a:lnSpc>
          <a:spcPct val="90000"/>
        </a:lnSpc>
        <a:spcBef>
          <a:spcPct val="12500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25220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1pPr>
      <a:lvl2pPr marL="561975" algn="l" defTabSz="1125220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2pPr>
      <a:lvl3pPr marL="1125220" algn="l" defTabSz="1125220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3pPr>
      <a:lvl4pPr marL="1687195" algn="l" defTabSz="1125220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4pPr>
      <a:lvl5pPr marL="2249170" algn="l" defTabSz="1125220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5pPr>
      <a:lvl6pPr marL="2812415" algn="l" defTabSz="1125220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6pPr>
      <a:lvl7pPr marL="3374390" algn="l" defTabSz="1125220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7pPr>
      <a:lvl8pPr marL="3936365" algn="l" defTabSz="1125220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8pPr>
      <a:lvl9pPr marL="4499610" algn="l" defTabSz="1125220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02" name="L 形 101"/>
          <p:cNvSpPr/>
          <p:nvPr/>
        </p:nvSpPr>
        <p:spPr>
          <a:xfrm>
            <a:off x="2390775" y="25536525"/>
            <a:ext cx="10740390" cy="4234180"/>
          </a:xfrm>
          <a:prstGeom prst="corner">
            <a:avLst>
              <a:gd name="adj1" fmla="val 66196"/>
              <a:gd name="adj2" fmla="val 126859"/>
            </a:avLst>
          </a:prstGeom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85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5754588" y="7974648"/>
            <a:ext cx="13470414" cy="1071448"/>
          </a:xfrm>
          <a:prstGeom prst="rect">
            <a:avLst/>
          </a:prstGeom>
          <a:solidFill>
            <a:srgbClr val="176B87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pPr algn="ctr"/>
            <a:r>
              <a:rPr lang="en-US" altLang="zh-CN" sz="654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Implementation &amp; </a:t>
            </a:r>
            <a:r>
              <a:rPr lang="zh-CN" altLang="en-US" sz="654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Result</a:t>
            </a:r>
            <a:endParaRPr lang="zh-CN" altLang="en-US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5434628" y="36179760"/>
            <a:ext cx="14110494" cy="1071448"/>
          </a:xfrm>
          <a:prstGeom prst="rect">
            <a:avLst/>
          </a:prstGeom>
          <a:solidFill>
            <a:srgbClr val="176B87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pPr algn="ctr"/>
            <a:r>
              <a:rPr lang="zh-CN" altLang="en-US" sz="654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Future work</a:t>
            </a:r>
            <a:endParaRPr lang="zh-CN" altLang="en-US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文本框 32"/>
          <p:cNvSpPr txBox="1"/>
          <p:nvPr userDrawn="1"/>
        </p:nvSpPr>
        <p:spPr>
          <a:xfrm>
            <a:off x="1143000" y="9712960"/>
            <a:ext cx="12777376" cy="9198528"/>
          </a:xfrm>
          <a:prstGeom prst="rect">
            <a:avLst/>
          </a:prstGeom>
        </p:spPr>
        <p:txBody>
          <a:bodyPr wrap="square" rtlCol="0">
            <a:noAutofit/>
          </a:bodyPr>
          <a:p>
            <a:pPr marL="571500" indent="-571500">
              <a:buFont typeface="Wingdings" panose="05000000000000000000" charset="0"/>
              <a:buChar char="p"/>
            </a:pPr>
            <a:r>
              <a:rPr lang="en-US" altLang="zh-CN" sz="3735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The Sail RISC-V Model can generate an executable file from its formal specification, and Sail has already been adopted in riscv-arch-test. However, ACT only provides limited test cases and cannot fully validate your RISC-V implementation.</a:t>
            </a:r>
            <a:endParaRPr lang="en-US" altLang="zh-CN" sz="3735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Wingdings" panose="05000000000000000000" charset="0"/>
              <a:buChar char="p"/>
            </a:pPr>
            <a:r>
              <a:rPr lang="en-US" altLang="zh-CN" sz="3735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Some chip projects may utilize in-house simulators for testing, yet they fail to obtain the soundness guarantee from formal verification that Sail-RISC-V offers, nor can they match the full configurability of Sail-RISC-V.</a:t>
            </a:r>
            <a:endParaRPr lang="en-US" altLang="zh-CN" sz="3735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Wingdings" panose="05000000000000000000" charset="0"/>
              <a:buChar char="p"/>
            </a:pPr>
            <a:r>
              <a:rPr lang="en-US" altLang="zh-CN" sz="3735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We aim to find a more effective method to introduce RISC-V Sail Model into a broader range of testing scenarios.</a:t>
            </a:r>
            <a:endParaRPr lang="en-US" altLang="zh-CN" sz="3735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endParaRPr lang="en-US" altLang="zh-CN" sz="3735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3735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endParaRPr lang="zh-CN" altLang="en-US" sz="3735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文本框 39"/>
          <p:cNvSpPr txBox="1"/>
          <p:nvPr userDrawn="1"/>
        </p:nvSpPr>
        <p:spPr>
          <a:xfrm>
            <a:off x="15543530" y="38096190"/>
            <a:ext cx="14001750" cy="3164205"/>
          </a:xfrm>
          <a:prstGeom prst="rect">
            <a:avLst/>
          </a:prstGeom>
        </p:spPr>
        <p:txBody>
          <a:bodyPr wrap="square" rtlCol="0">
            <a:noAutofit/>
          </a:bodyPr>
          <a:p>
            <a:pPr marL="571500" indent="-571500" algn="l">
              <a:lnSpc>
                <a:spcPct val="110000"/>
              </a:lnSpc>
              <a:buFont typeface="Wingdings" panose="05000000000000000000" charset="0"/>
              <a:buChar char="p"/>
            </a:pPr>
            <a:r>
              <a:rPr lang="en-US" altLang="zh-CN" sz="3735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Pydrofoil is currently bound to a specific commit and requires extensive updates.</a:t>
            </a:r>
            <a:endParaRPr lang="en-US" altLang="zh-CN" sz="3735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l">
              <a:lnSpc>
                <a:spcPct val="110000"/>
              </a:lnSpc>
              <a:buFont typeface="Wingdings" panose="05000000000000000000" charset="0"/>
              <a:buChar char="p"/>
            </a:pPr>
            <a:r>
              <a:rPr lang="en-US" altLang="zh-CN" sz="3735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Update Sail-RISC-V to provide more common interfaces, such as support for the "skip" functionality.</a:t>
            </a:r>
            <a:endParaRPr lang="en-US" altLang="zh-CN" sz="3735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6" name="文本框 75"/>
          <p:cNvSpPr txBox="1"/>
          <p:nvPr userDrawn="1"/>
        </p:nvSpPr>
        <p:spPr>
          <a:xfrm>
            <a:off x="15754985" y="9712960"/>
            <a:ext cx="13470255" cy="4104005"/>
          </a:xfrm>
          <a:prstGeom prst="rect">
            <a:avLst/>
          </a:prstGeom>
        </p:spPr>
        <p:txBody>
          <a:bodyPr wrap="square" rtlCol="0">
            <a:noAutofit/>
          </a:bodyPr>
          <a:p>
            <a:pPr marL="571500" indent="-571500" algn="l">
              <a:lnSpc>
                <a:spcPct val="110000"/>
              </a:lnSpc>
              <a:buFont typeface="Wingdings" panose="05000000000000000000" charset="0"/>
              <a:buChar char="p"/>
            </a:pPr>
            <a:r>
              <a:rPr lang="en-US" altLang="zh-CN" sz="3735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We have selected the Xiangshan Processor as our test target. It is an open-source RISC-V implementation project that boasts excellent performance, written in Chisel itself. Its source code includes a framework called difftest, and Xiangshan uses NEMU as its test reference. Our goal is to replace NEMU's functionality with a dynamic library based on the Sail model.</a:t>
            </a:r>
            <a:endParaRPr lang="en-US" altLang="zh-CN" sz="3735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l">
              <a:lnSpc>
                <a:spcPct val="110000"/>
              </a:lnSpc>
              <a:buFont typeface="Wingdings" panose="05000000000000000000" charset="0"/>
              <a:buChar char="p"/>
            </a:pPr>
            <a:endParaRPr lang="zh-CN" altLang="en-US" sz="3735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-36354" y="0"/>
            <a:ext cx="30275530" cy="7307908"/>
          </a:xfrm>
          <a:prstGeom prst="rect">
            <a:avLst/>
          </a:prstGeom>
          <a:solidFill>
            <a:srgbClr val="176B87"/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txBody>
          <a:bodyPr vert="horz" wrap="square" lIns="77648" tIns="38824" rIns="77648" bIns="38824" numCol="1" rtlCol="0" anchor="ctr" anchorCtr="0" compatLnSpc="1">
            <a:noAutofit/>
          </a:bodyPr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zh-CN" sz="4400" b="1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highlight>
                <a:srgbClr val="000000"/>
              </a:highlight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143000" y="18028444"/>
            <a:ext cx="13389293" cy="5381466"/>
          </a:xfrm>
          <a:prstGeom prst="rect">
            <a:avLst/>
          </a:prstGeom>
        </p:spPr>
        <p:txBody>
          <a:bodyPr wrap="square" rtlCol="0">
            <a:noAutofit/>
          </a:bodyPr>
          <a:p>
            <a:pPr marL="571500" indent="-571500" algn="l">
              <a:lnSpc>
                <a:spcPct val="110000"/>
              </a:lnSpc>
              <a:buFont typeface="Wingdings" panose="05000000000000000000" charset="0"/>
              <a:buChar char="p"/>
            </a:pPr>
            <a:r>
              <a:rPr lang="en-US" altLang="zh-CN" sz="3735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This work introduces an approach based on the Pydrofoil framework. Users can develop a series of interfaces suitable for processor testing using simple Python scripts as needed. </a:t>
            </a:r>
            <a:endParaRPr lang="en-US" altLang="zh-CN" sz="3735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l">
              <a:lnSpc>
                <a:spcPct val="110000"/>
              </a:lnSpc>
              <a:buFont typeface="Wingdings" panose="05000000000000000000" charset="0"/>
              <a:buChar char="p"/>
            </a:pPr>
            <a:r>
              <a:rPr lang="en-US" altLang="zh-CN" sz="3735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This approach leverages both the accuracy of Sail-RISC-V and the high performance of Pydrofoil. Pydrofoil incorporates a suite of compilation optimization techniques, enabling efficient interpretive execution of the Sail-RISC-V model core. Meanwhile, Python-written code is compiled into native C code via PyPy CFFI, without incurring performance overhead.</a:t>
            </a:r>
            <a:endParaRPr lang="en-US" altLang="zh-CN" sz="3735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圆角矩形 24"/>
          <p:cNvSpPr/>
          <p:nvPr userDrawn="1"/>
        </p:nvSpPr>
        <p:spPr>
          <a:xfrm>
            <a:off x="1743075" y="24343360"/>
            <a:ext cx="12310745" cy="6102350"/>
          </a:xfrm>
          <a:prstGeom prst="roundRect">
            <a:avLst>
              <a:gd name="adj" fmla="val 4472"/>
            </a:avLst>
          </a:prstGeom>
          <a:noFill/>
          <a:ln w="38100" cap="flat" cmpd="sng" algn="ctr">
            <a:solidFill>
              <a:srgbClr val="002060">
                <a:alpha val="100000"/>
              </a:srgbClr>
            </a:solidFill>
            <a:prstDash val="dash"/>
            <a:miter lim="800000"/>
          </a:ln>
        </p:spPr>
        <p:txBody>
          <a:bodyPr vert="horz" wrap="square" lIns="77648" tIns="38824" rIns="77648" bIns="38824" numCol="1" rtlCol="0" anchor="t" anchorCtr="0" compatLnSpc="1">
            <a:noAutofit/>
          </a:bodyPr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715" smtClean="0">
                <a:ln>
                  <a:noFill/>
                </a:ln>
                <a:solidFill>
                  <a:srgbClr val="426877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rPr>
              <a:t>RISCV Sail Model</a:t>
            </a:r>
            <a:endParaRPr lang="en-US" altLang="zh-CN" sz="2715" smtClean="0">
              <a:ln>
                <a:noFill/>
              </a:ln>
              <a:solidFill>
                <a:srgbClr val="426877"/>
              </a:solidFill>
              <a:effectLst/>
              <a:latin typeface="Fira Code SemiBold" charset="0"/>
              <a:ea typeface="Fira Code SemiBold" charset="0"/>
              <a:cs typeface="Fira Code SemiBold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43000" y="16102127"/>
            <a:ext cx="13275945" cy="1071448"/>
          </a:xfrm>
          <a:prstGeom prst="rect">
            <a:avLst/>
          </a:prstGeom>
          <a:solidFill>
            <a:srgbClr val="176B87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pPr algn="ctr"/>
            <a:r>
              <a:rPr lang="zh-CN" altLang="en-US" sz="6540" noProof="0" dirty="0" smtClean="0">
                <a:ln>
                  <a:noFill/>
                </a:ln>
                <a:solidFill>
                  <a:schemeClr val="lt1"/>
                </a:solidFill>
                <a:uLnTx/>
                <a:uFillTx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Method</a:t>
            </a:r>
            <a:endParaRPr lang="zh-CN" altLang="en-US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文本框 29"/>
          <p:cNvSpPr txBox="1"/>
          <p:nvPr userDrawn="1"/>
        </p:nvSpPr>
        <p:spPr>
          <a:xfrm>
            <a:off x="1743070" y="734590"/>
            <a:ext cx="23395396" cy="3135747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9600" b="1">
                <a:solidFill>
                  <a:schemeClr val="bg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An Efficient Approach to Apply the RISC-V Sail Model to Chip Verification</a:t>
            </a:r>
            <a:endParaRPr lang="en-US" altLang="zh-CN">
              <a:solidFill>
                <a:schemeClr val="bg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文本框 34"/>
          <p:cNvSpPr txBox="1"/>
          <p:nvPr userDrawn="1"/>
        </p:nvSpPr>
        <p:spPr>
          <a:xfrm>
            <a:off x="1743070" y="3870451"/>
            <a:ext cx="21447443" cy="2901563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6000">
                <a:solidFill>
                  <a:schemeClr val="bg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Yanming Zhu</a:t>
            </a:r>
            <a:r>
              <a:rPr lang="en-US" altLang="zh-CN" sz="6000">
                <a:solidFill>
                  <a:schemeClr val="bg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¹, Yuxuan Sun</a:t>
            </a:r>
            <a:r>
              <a:rPr lang="en-US" altLang="en-US" sz="6000">
                <a:solidFill>
                  <a:schemeClr val="bg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¹</a:t>
            </a:r>
            <a:r>
              <a:rPr lang="en-US" altLang="zh-CN" sz="6000">
                <a:solidFill>
                  <a:schemeClr val="bg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, Yunxiang Luo</a:t>
            </a:r>
            <a:r>
              <a:rPr lang="en-US" altLang="en-US" sz="6000">
                <a:solidFill>
                  <a:schemeClr val="bg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¹</a:t>
            </a:r>
            <a:endParaRPr lang="en-US" altLang="en-US" sz="6000">
              <a:solidFill>
                <a:schemeClr val="bg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50000"/>
              </a:lnSpc>
            </a:pPr>
            <a:r>
              <a:rPr lang="en-US" altLang="en-US" sz="6000">
                <a:solidFill>
                  <a:schemeClr val="bg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¹</a:t>
            </a:r>
            <a:r>
              <a:rPr lang="en-US" altLang="zh-CN" sz="6000">
                <a:solidFill>
                  <a:schemeClr val="bg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Programming Language and Compiler Technology Lab</a:t>
            </a:r>
            <a:endParaRPr lang="en-US" altLang="en-US" sz="6000">
              <a:solidFill>
                <a:schemeClr val="bg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altLang="en-US" sz="6000">
              <a:solidFill>
                <a:schemeClr val="bg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圆角矩形 2"/>
          <p:cNvSpPr/>
          <p:nvPr userDrawn="1"/>
        </p:nvSpPr>
        <p:spPr>
          <a:xfrm>
            <a:off x="1743075" y="33709610"/>
            <a:ext cx="12310745" cy="7082790"/>
          </a:xfrm>
          <a:prstGeom prst="roundRect">
            <a:avLst>
              <a:gd name="adj" fmla="val 4472"/>
            </a:avLst>
          </a:prstGeom>
          <a:noFill/>
          <a:ln w="38100" cap="flat" cmpd="sng" algn="ctr">
            <a:solidFill>
              <a:srgbClr val="002060">
                <a:alpha val="100000"/>
              </a:srgbClr>
            </a:solidFill>
            <a:prstDash val="dash"/>
            <a:miter lim="800000"/>
          </a:ln>
        </p:spPr>
        <p:txBody>
          <a:bodyPr vert="horz" wrap="square" lIns="77648" tIns="38824" rIns="77648" bIns="38824" numCol="1" rtlCol="0" anchor="t" anchorCtr="0" compatLnSpc="1">
            <a:noAutofit/>
          </a:bodyPr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rPr>
              <a:t>Pydrofoil</a:t>
            </a:r>
            <a:endParaRPr lang="en-US" altLang="zh-CN" sz="6540">
              <a:latin typeface="Fira Code SemiBold" charset="0"/>
              <a:ea typeface="Fira Code SemiBold" charset="0"/>
              <a:cs typeface="Fira Code SemiBold" charset="0"/>
            </a:endParaRPr>
          </a:p>
        </p:txBody>
      </p:sp>
      <p:sp>
        <p:nvSpPr>
          <p:cNvPr id="52" name="椭圆 51"/>
          <p:cNvSpPr>
            <a:spLocks noChangeAspect="1"/>
          </p:cNvSpPr>
          <p:nvPr/>
        </p:nvSpPr>
        <p:spPr>
          <a:xfrm>
            <a:off x="9136380" y="36480750"/>
            <a:ext cx="3994785" cy="1892935"/>
          </a:xfrm>
          <a:prstGeom prst="ellipse">
            <a:avLst/>
          </a:prstGeom>
          <a:solidFill>
            <a:srgbClr val="ABEBB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  <a:sym typeface="+mn-ea"/>
              </a:rPr>
              <a:t>Pydrofoil</a:t>
            </a:r>
            <a:endParaRPr kumimoji="0" lang="zh-CN" altLang="zh-CN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90" name="组合 89"/>
          <p:cNvGrpSpPr/>
          <p:nvPr/>
        </p:nvGrpSpPr>
        <p:grpSpPr>
          <a:xfrm rot="0">
            <a:off x="2825127" y="25821027"/>
            <a:ext cx="9934596" cy="3664563"/>
            <a:chOff x="12986" y="40210"/>
            <a:chExt cx="7619" cy="7533"/>
          </a:xfrm>
        </p:grpSpPr>
        <p:sp>
          <p:nvSpPr>
            <p:cNvPr id="21" name="圆角矩形 20"/>
            <p:cNvSpPr/>
            <p:nvPr userDrawn="1"/>
          </p:nvSpPr>
          <p:spPr>
            <a:xfrm>
              <a:off x="13055" y="43913"/>
              <a:ext cx="3311" cy="1476"/>
            </a:xfrm>
            <a:prstGeom prst="roundRect">
              <a:avLst/>
            </a:prstGeom>
            <a:solidFill>
              <a:srgbClr val="99C7F0"/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txBody>
            <a:bodyPr vert="horz" wrap="square" lIns="77648" tIns="38824" rIns="77648" bIns="38824" numCol="1" rtlCol="0" anchor="ctr" anchorCtr="0" compatLnSpc="1">
              <a:noAutofit/>
            </a:bodyPr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zh-CN" sz="2800">
                  <a:latin typeface="Fira Code SemiBold" charset="0"/>
                  <a:ea typeface="Fira Code SemiBold" charset="0"/>
                  <a:cs typeface="Fira Code SemiBold" charset="0"/>
                </a:rPr>
                <a:t>Extensions</a:t>
              </a:r>
              <a:endParaRPr lang="en-US" altLang="zh-CN" sz="2800">
                <a:latin typeface="Fira Code SemiBold" charset="0"/>
                <a:ea typeface="Fira Code SemiBold" charset="0"/>
                <a:cs typeface="Fira Code SemiBold" charset="0"/>
              </a:endParaRPr>
            </a:p>
          </p:txBody>
        </p:sp>
        <p:sp>
          <p:nvSpPr>
            <p:cNvPr id="22" name="圆角矩形 21"/>
            <p:cNvSpPr/>
            <p:nvPr userDrawn="1"/>
          </p:nvSpPr>
          <p:spPr>
            <a:xfrm>
              <a:off x="12986" y="40210"/>
              <a:ext cx="3450" cy="1449"/>
            </a:xfrm>
            <a:prstGeom prst="roundRect">
              <a:avLst/>
            </a:prstGeom>
            <a:solidFill>
              <a:srgbClr val="E09EE9"/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txBody>
            <a:bodyPr vert="horz" wrap="square" lIns="77648" tIns="38824" rIns="77648" bIns="38824" numCol="1" rtlCol="0" anchor="ctr" anchorCtr="0" compatLnSpc="1">
              <a:noAutofit/>
            </a:bodyPr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zh-CN" sz="2715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Fira Code SemiBold" charset="0"/>
                  <a:ea typeface="Fira Code SemiBold" charset="0"/>
                  <a:cs typeface="Fira Code SemiBold" charset="0"/>
                </a:rPr>
                <a:t>riscv.sail_project</a:t>
              </a:r>
              <a:endParaRPr lang="en-US" altLang="zh-CN" sz="6540">
                <a:latin typeface="Fira Code SemiBold" charset="0"/>
                <a:ea typeface="Fira Code SemiBold" charset="0"/>
                <a:cs typeface="Fira Code SemiBold" charset="0"/>
              </a:endParaRPr>
            </a:p>
          </p:txBody>
        </p:sp>
        <p:sp>
          <p:nvSpPr>
            <p:cNvPr id="23" name="圆角矩形 22"/>
            <p:cNvSpPr/>
            <p:nvPr userDrawn="1"/>
          </p:nvSpPr>
          <p:spPr>
            <a:xfrm>
              <a:off x="17180" y="43912"/>
              <a:ext cx="3425" cy="1476"/>
            </a:xfrm>
            <a:prstGeom prst="roundRect">
              <a:avLst/>
            </a:prstGeom>
            <a:solidFill>
              <a:srgbClr val="99C7F0"/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txBody>
            <a:bodyPr vert="horz" wrap="square" lIns="77648" tIns="38824" rIns="77648" bIns="38824" numCol="1" rtlCol="0" anchor="ctr" anchorCtr="0" compatLnSpc="1">
              <a:noAutofit/>
            </a:bodyPr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zh-CN" sz="2715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Fira Code SemiBold" charset="0"/>
                  <a:ea typeface="Fira Code SemiBold" charset="0"/>
                  <a:cs typeface="Fira Code SemiBold" charset="0"/>
                </a:rPr>
                <a:t>Callbacks</a:t>
              </a:r>
              <a:endPara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endParaRPr>
            </a:p>
          </p:txBody>
        </p:sp>
        <p:sp>
          <p:nvSpPr>
            <p:cNvPr id="14" name="圆角矩形 13"/>
            <p:cNvSpPr/>
            <p:nvPr userDrawn="1"/>
          </p:nvSpPr>
          <p:spPr>
            <a:xfrm>
              <a:off x="13055" y="46267"/>
              <a:ext cx="3311" cy="1476"/>
            </a:xfrm>
            <a:prstGeom prst="roundRect">
              <a:avLst/>
            </a:prstGeom>
            <a:solidFill>
              <a:srgbClr val="99C7F0"/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txBody>
            <a:bodyPr vert="horz" wrap="square" lIns="77648" tIns="38824" rIns="77648" bIns="38824" numCol="1" rtlCol="0" anchor="ctr" anchorCtr="0" compatLnSpc="1">
              <a:noAutofit/>
            </a:bodyPr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zh-CN" sz="280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Fira Code SemiBold" charset="0"/>
                  <a:ea typeface="Fira Code SemiBold" charset="0"/>
                  <a:cs typeface="Fira Code SemiBold" charset="0"/>
                </a:rPr>
                <a:t>Trap handler</a:t>
              </a:r>
              <a:endParaRPr lang="en-US" altLang="zh-CN" sz="2800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endParaRPr>
            </a:p>
          </p:txBody>
        </p:sp>
      </p:grpSp>
      <p:sp>
        <p:nvSpPr>
          <p:cNvPr id="87" name="圆角矩形 86"/>
          <p:cNvSpPr/>
          <p:nvPr userDrawn="1"/>
        </p:nvSpPr>
        <p:spPr>
          <a:xfrm>
            <a:off x="8643620" y="32117665"/>
            <a:ext cx="4889500" cy="920115"/>
          </a:xfrm>
          <a:prstGeom prst="roundRect">
            <a:avLst/>
          </a:prstGeom>
          <a:solidFill>
            <a:srgbClr val="FFCEA4"/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txBody>
          <a:bodyPr vert="horz" wrap="square" lIns="77648" tIns="38824" rIns="77648" bIns="38824" numCol="1" rtlCol="0" anchor="ctr" anchorCtr="0" compatLnSpc="1">
            <a:noAutofit/>
          </a:bodyPr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rPr>
              <a:t>test.elf</a:t>
            </a:r>
            <a:endParaRPr lang="en-US" altLang="zh-CN" sz="2715" smtClean="0">
              <a:ln>
                <a:noFill/>
              </a:ln>
              <a:solidFill>
                <a:srgbClr val="000000"/>
              </a:solidFill>
              <a:effectLst/>
              <a:latin typeface="Fira Code SemiBold" charset="0"/>
              <a:ea typeface="Fira Code SemiBold" charset="0"/>
              <a:cs typeface="Fira Code SemiBold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1143000" y="7974762"/>
            <a:ext cx="13275945" cy="1071448"/>
          </a:xfrm>
          <a:prstGeom prst="rect">
            <a:avLst/>
          </a:prstGeom>
          <a:solidFill>
            <a:srgbClr val="176B87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pPr algn="ctr"/>
            <a:r>
              <a:rPr lang="en-US" altLang="zh-CN" sz="654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Introduction &amp; Motivation</a:t>
            </a:r>
            <a:endParaRPr kumimoji="0" lang="en-US" altLang="zh-CN" sz="654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zh-CN" altLang="en-US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6" name="圆角矩形 95"/>
          <p:cNvSpPr/>
          <p:nvPr userDrawn="1"/>
        </p:nvSpPr>
        <p:spPr>
          <a:xfrm>
            <a:off x="2915920" y="34665920"/>
            <a:ext cx="4871085" cy="9372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txBody>
          <a:bodyPr vert="horz" wrap="square" lIns="77648" tIns="38824" rIns="77648" bIns="38824" numCol="1" rtlCol="0" anchor="ctr" anchorCtr="0" compatLnSpc="1">
            <a:noAutofit/>
          </a:bodyPr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rPr>
              <a:t>Pydrofoil IR</a:t>
            </a:r>
            <a:endParaRPr lang="en-US" altLang="zh-CN" sz="6540">
              <a:latin typeface="Fira Code SemiBold" charset="0"/>
              <a:ea typeface="Fira Code SemiBold" charset="0"/>
              <a:cs typeface="Fira Code SemiBold" charset="0"/>
            </a:endParaRPr>
          </a:p>
        </p:txBody>
      </p:sp>
      <p:sp>
        <p:nvSpPr>
          <p:cNvPr id="100" name="圆角矩形 99"/>
          <p:cNvSpPr/>
          <p:nvPr userDrawn="1"/>
        </p:nvSpPr>
        <p:spPr>
          <a:xfrm>
            <a:off x="8293735" y="25830530"/>
            <a:ext cx="4613910" cy="695325"/>
          </a:xfrm>
          <a:prstGeom prst="roundRect">
            <a:avLst/>
          </a:prstGeom>
          <a:solidFill>
            <a:srgbClr val="ABEBB3"/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txBody>
          <a:bodyPr vert="horz" wrap="square" lIns="77648" tIns="38824" rIns="77648" bIns="38824" numCol="1" rtlCol="0" anchor="ctr" anchorCtr="0" compatLnSpc="1">
            <a:noAutofit/>
          </a:bodyPr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720">
                <a:latin typeface="Fira Code SemiBold" charset="0"/>
                <a:ea typeface="Fira Code SemiBold" charset="0"/>
                <a:cs typeface="Fira Code SemiBold" charset="0"/>
              </a:rPr>
              <a:t>emulator</a:t>
            </a:r>
            <a:endParaRPr lang="en-US" altLang="zh-CN" sz="2720">
              <a:latin typeface="Fira Code SemiBold" charset="0"/>
              <a:ea typeface="Fira Code SemiBold" charset="0"/>
              <a:cs typeface="Fira Code SemiBold" charset="0"/>
            </a:endParaRPr>
          </a:p>
        </p:txBody>
      </p:sp>
      <p:sp>
        <p:nvSpPr>
          <p:cNvPr id="101" name="圆角矩形 100"/>
          <p:cNvSpPr/>
          <p:nvPr userDrawn="1"/>
        </p:nvSpPr>
        <p:spPr>
          <a:xfrm>
            <a:off x="8293100" y="28767405"/>
            <a:ext cx="4466590" cy="718185"/>
          </a:xfrm>
          <a:prstGeom prst="roundRect">
            <a:avLst/>
          </a:prstGeom>
          <a:solidFill>
            <a:srgbClr val="99C7F0"/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txBody>
          <a:bodyPr vert="horz" wrap="square" lIns="77648" tIns="38824" rIns="77648" bIns="38824" numCol="1" rtlCol="0" anchor="ctr" anchorCtr="0" compatLnSpc="1">
            <a:noAutofit/>
          </a:bodyPr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800">
                <a:latin typeface="Fira Code SemiBold" charset="0"/>
                <a:ea typeface="Fira Code SemiBold" charset="0"/>
                <a:cs typeface="Fira Code SemiBold" charset="0"/>
              </a:rPr>
              <a:t>System Registers</a:t>
            </a:r>
            <a:endParaRPr lang="en-US" altLang="zh-CN" sz="2800">
              <a:latin typeface="Fira Code SemiBold" charset="0"/>
              <a:ea typeface="Fira Code SemiBold" charset="0"/>
              <a:cs typeface="Fira Code SemiBold" charset="0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3372485" y="26798270"/>
            <a:ext cx="3707130" cy="551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720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  <a:sym typeface="+mn-ea"/>
              </a:rPr>
              <a:t>Model (*.sail)</a:t>
            </a:r>
            <a:endParaRPr lang="en-US" altLang="zh-CN" sz="2720" smtClean="0">
              <a:ln>
                <a:noFill/>
              </a:ln>
              <a:solidFill>
                <a:srgbClr val="000000"/>
              </a:solidFill>
              <a:effectLst/>
              <a:latin typeface="Fira Code SemiBold" charset="0"/>
              <a:ea typeface="Fira Code SemiBold" charset="0"/>
              <a:cs typeface="Fira Code SemiBold" charset="0"/>
            </a:endParaRPr>
          </a:p>
          <a:p>
            <a:endParaRPr lang="zh-CN" altLang="en-US" sz="2720"/>
          </a:p>
        </p:txBody>
      </p:sp>
      <p:sp>
        <p:nvSpPr>
          <p:cNvPr id="104" name="圆角矩形 103"/>
          <p:cNvSpPr/>
          <p:nvPr userDrawn="1"/>
        </p:nvSpPr>
        <p:spPr>
          <a:xfrm>
            <a:off x="2914650" y="32186245"/>
            <a:ext cx="4872355" cy="937260"/>
          </a:xfrm>
          <a:prstGeom prst="roundRect">
            <a:avLst/>
          </a:prstGeom>
          <a:solidFill>
            <a:srgbClr val="99C7F0"/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txBody>
          <a:bodyPr vert="horz" wrap="square" lIns="77648" tIns="38824" rIns="77648" bIns="38824" numCol="1" rtlCol="0" anchor="ctr" anchorCtr="0" compatLnSpc="1">
            <a:noAutofit/>
          </a:bodyPr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rPr>
              <a:t>sail-riscv.ir (jib ir)</a:t>
            </a:r>
            <a:endParaRPr lang="en-US" altLang="zh-CN" sz="6540">
              <a:latin typeface="Fira Code SemiBold" charset="0"/>
              <a:ea typeface="Fira Code SemiBold" charset="0"/>
              <a:cs typeface="Fira Code SemiBold" charset="0"/>
            </a:endParaRPr>
          </a:p>
        </p:txBody>
      </p:sp>
      <p:sp>
        <p:nvSpPr>
          <p:cNvPr id="106" name="下箭头 105"/>
          <p:cNvSpPr/>
          <p:nvPr/>
        </p:nvSpPr>
        <p:spPr>
          <a:xfrm>
            <a:off x="5133975" y="29911675"/>
            <a:ext cx="700405" cy="220599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85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8" name="圆角矩形 107"/>
          <p:cNvSpPr/>
          <p:nvPr userDrawn="1"/>
        </p:nvSpPr>
        <p:spPr>
          <a:xfrm>
            <a:off x="2915920" y="36782375"/>
            <a:ext cx="4871085" cy="9372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txBody>
          <a:bodyPr vert="horz" wrap="square" lIns="77648" tIns="38824" rIns="77648" bIns="38824" numCol="1" rtlCol="0" anchor="ctr" anchorCtr="0" compatLnSpc="1">
            <a:noAutofit/>
          </a:bodyPr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rPr>
              <a:t>RPython Version</a:t>
            </a:r>
            <a:endParaRPr lang="en-US" altLang="zh-CN" sz="6540">
              <a:latin typeface="Fira Code SemiBold" charset="0"/>
              <a:ea typeface="Fira Code SemiBold" charset="0"/>
              <a:cs typeface="Fira Code SemiBold" charset="0"/>
            </a:endParaRPr>
          </a:p>
        </p:txBody>
      </p:sp>
      <p:sp>
        <p:nvSpPr>
          <p:cNvPr id="110" name="下箭头 109"/>
          <p:cNvSpPr/>
          <p:nvPr/>
        </p:nvSpPr>
        <p:spPr>
          <a:xfrm>
            <a:off x="10854690" y="33254950"/>
            <a:ext cx="696595" cy="3104515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85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11" name="直接箭头连接符 110"/>
          <p:cNvCxnSpPr>
            <a:stCxn id="104" idx="2"/>
            <a:endCxn id="96" idx="0"/>
          </p:cNvCxnSpPr>
          <p:nvPr/>
        </p:nvCxnSpPr>
        <p:spPr>
          <a:xfrm>
            <a:off x="5351145" y="33123505"/>
            <a:ext cx="635" cy="1542415"/>
          </a:xfrm>
          <a:prstGeom prst="straightConnector1">
            <a:avLst/>
          </a:prstGeom>
          <a:ln w="79375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5" name="文本框 114"/>
          <p:cNvSpPr txBox="1"/>
          <p:nvPr/>
        </p:nvSpPr>
        <p:spPr>
          <a:xfrm>
            <a:off x="6194425" y="30986095"/>
            <a:ext cx="53568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atin typeface="Fira Code SemiBold" charset="0"/>
                <a:cs typeface="Fira Code SemiBold" charset="0"/>
              </a:rPr>
              <a:t>sail compiler transform</a:t>
            </a:r>
            <a:endParaRPr lang="en-US" altLang="zh-CN" sz="2800">
              <a:latin typeface="Fira Code SemiBold" charset="0"/>
              <a:cs typeface="Fira Code SemiBold" charset="0"/>
            </a:endParaRPr>
          </a:p>
        </p:txBody>
      </p:sp>
      <p:sp>
        <p:nvSpPr>
          <p:cNvPr id="116" name="圆角矩形 115"/>
          <p:cNvSpPr/>
          <p:nvPr userDrawn="1"/>
        </p:nvSpPr>
        <p:spPr>
          <a:xfrm>
            <a:off x="2914650" y="38884225"/>
            <a:ext cx="4871085" cy="937260"/>
          </a:xfrm>
          <a:prstGeom prst="roundRect">
            <a:avLst/>
          </a:prstGeom>
          <a:solidFill>
            <a:srgbClr val="E09EE9"/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txBody>
          <a:bodyPr vert="horz" wrap="square" lIns="77648" tIns="38824" rIns="77648" bIns="38824" numCol="1" rtlCol="0" anchor="ctr" anchorCtr="0" compatLnSpc="1">
            <a:noAutofit/>
          </a:bodyPr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rPr>
              <a:t>PyPy Engine</a:t>
            </a:r>
            <a:endParaRPr lang="en-US" altLang="zh-CN" sz="6540">
              <a:latin typeface="Fira Code SemiBold" charset="0"/>
              <a:ea typeface="Fira Code SemiBold" charset="0"/>
              <a:cs typeface="Fira Code SemiBold" charset="0"/>
            </a:endParaRPr>
          </a:p>
        </p:txBody>
      </p:sp>
      <p:cxnSp>
        <p:nvCxnSpPr>
          <p:cNvPr id="117" name="直接箭头连接符 116"/>
          <p:cNvCxnSpPr/>
          <p:nvPr/>
        </p:nvCxnSpPr>
        <p:spPr>
          <a:xfrm>
            <a:off x="5351145" y="35603180"/>
            <a:ext cx="635" cy="1179195"/>
          </a:xfrm>
          <a:prstGeom prst="straightConnector1">
            <a:avLst/>
          </a:prstGeom>
          <a:ln w="79375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>
            <a:stCxn id="116" idx="3"/>
            <a:endCxn id="52" idx="3"/>
          </p:cNvCxnSpPr>
          <p:nvPr/>
        </p:nvCxnSpPr>
        <p:spPr>
          <a:xfrm flipV="1">
            <a:off x="7785735" y="38096190"/>
            <a:ext cx="1935480" cy="1256665"/>
          </a:xfrm>
          <a:prstGeom prst="straightConnector1">
            <a:avLst/>
          </a:prstGeom>
          <a:ln w="79375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>
            <a:stCxn id="108" idx="3"/>
            <a:endCxn id="52" idx="2"/>
          </p:cNvCxnSpPr>
          <p:nvPr/>
        </p:nvCxnSpPr>
        <p:spPr>
          <a:xfrm>
            <a:off x="7787005" y="37251005"/>
            <a:ext cx="1349375" cy="176530"/>
          </a:xfrm>
          <a:prstGeom prst="straightConnector1">
            <a:avLst/>
          </a:prstGeom>
          <a:ln w="79375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0" name="文本框 119"/>
          <p:cNvSpPr txBox="1"/>
          <p:nvPr/>
        </p:nvSpPr>
        <p:spPr>
          <a:xfrm>
            <a:off x="9136380" y="39077900"/>
            <a:ext cx="4853305" cy="990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latin typeface="Fira Code SemiBold" charset="0"/>
                <a:cs typeface="Fira Code SemiBold" charset="0"/>
              </a:rPr>
              <a:t>Bind RPython version of the model with Pypy Engine</a:t>
            </a:r>
            <a:endParaRPr lang="en-US" altLang="zh-CN" sz="2800">
              <a:latin typeface="Fira Code SemiBold" charset="0"/>
              <a:cs typeface="Fira Code SemiBold" charset="0"/>
            </a:endParaRPr>
          </a:p>
        </p:txBody>
      </p:sp>
      <p:pic>
        <p:nvPicPr>
          <p:cNvPr id="182" name="图片 181"/>
          <p:cNvPicPr/>
          <p:nvPr/>
        </p:nvPicPr>
        <p:blipFill>
          <a:blip r:embed="rId1"/>
          <a:stretch>
            <a:fillRect/>
          </a:stretch>
        </p:blipFill>
        <p:spPr>
          <a:xfrm>
            <a:off x="22179280" y="2510790"/>
            <a:ext cx="4469765" cy="4185285"/>
          </a:xfrm>
          <a:prstGeom prst="rect">
            <a:avLst/>
          </a:prstGeom>
        </p:spPr>
      </p:pic>
      <p:grpSp>
        <p:nvGrpSpPr>
          <p:cNvPr id="205" name="组合 204"/>
          <p:cNvGrpSpPr/>
          <p:nvPr/>
        </p:nvGrpSpPr>
        <p:grpSpPr>
          <a:xfrm>
            <a:off x="19721195" y="14291945"/>
            <a:ext cx="9547860" cy="11464290"/>
            <a:chOff x="30938" y="23733"/>
            <a:chExt cx="15036" cy="18054"/>
          </a:xfrm>
        </p:grpSpPr>
        <p:sp>
          <p:nvSpPr>
            <p:cNvPr id="178" name="L 形 177"/>
            <p:cNvSpPr/>
            <p:nvPr/>
          </p:nvSpPr>
          <p:spPr>
            <a:xfrm>
              <a:off x="31715" y="34134"/>
              <a:ext cx="13421" cy="7047"/>
            </a:xfrm>
            <a:prstGeom prst="corner">
              <a:avLst>
                <a:gd name="adj1" fmla="val 65659"/>
                <a:gd name="adj2" fmla="val 97048"/>
              </a:avLst>
            </a:prstGeom>
            <a:ln>
              <a:headEnd type="none" w="med" len="med"/>
              <a:tailEnd type="none" w="med" len="med"/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zh-CN" sz="85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5" name="圆角矩形 144"/>
            <p:cNvSpPr/>
            <p:nvPr userDrawn="1"/>
          </p:nvSpPr>
          <p:spPr>
            <a:xfrm>
              <a:off x="30938" y="23733"/>
              <a:ext cx="15036" cy="18054"/>
            </a:xfrm>
            <a:prstGeom prst="roundRect">
              <a:avLst>
                <a:gd name="adj" fmla="val 4472"/>
              </a:avLst>
            </a:prstGeom>
            <a:noFill/>
            <a:ln w="38100" cap="flat" cmpd="sng" algn="ctr">
              <a:solidFill>
                <a:srgbClr val="002060">
                  <a:alpha val="100000"/>
                </a:srgbClr>
              </a:solidFill>
              <a:prstDash val="dash"/>
              <a:miter lim="800000"/>
            </a:ln>
          </p:spPr>
          <p:txBody>
            <a:bodyPr vert="horz" wrap="square" lIns="77648" tIns="38824" rIns="77648" bIns="38824" numCol="1" rtlCol="0" anchor="t" anchorCtr="0" compatLnSpc="1">
              <a:noAutofit/>
            </a:bodyPr>
            <a:p>
              <a:pPr marL="0" marR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lang="en-US" altLang="zh-CN" sz="2715" smtClean="0">
                <a:ln>
                  <a:noFill/>
                </a:ln>
                <a:solidFill>
                  <a:srgbClr val="426877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endParaRPr>
            </a:p>
          </p:txBody>
        </p:sp>
        <p:sp>
          <p:nvSpPr>
            <p:cNvPr id="153" name="文本框 152"/>
            <p:cNvSpPr txBox="1"/>
            <p:nvPr/>
          </p:nvSpPr>
          <p:spPr>
            <a:xfrm>
              <a:off x="34125" y="24128"/>
              <a:ext cx="916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>
                  <a:latin typeface="Fira Code SemiBold" charset="0"/>
                  <a:cs typeface="Fira Code SemiBold" charset="0"/>
                </a:rPr>
                <a:t>target cpu implementation</a:t>
              </a:r>
              <a:endParaRPr lang="en-US" altLang="zh-CN" sz="2800">
                <a:latin typeface="Fira Code SemiBold" charset="0"/>
                <a:cs typeface="Fira Code SemiBold" charset="0"/>
              </a:endParaRPr>
            </a:p>
          </p:txBody>
        </p:sp>
        <p:sp>
          <p:nvSpPr>
            <p:cNvPr id="154" name="圆角矩形 153"/>
            <p:cNvSpPr/>
            <p:nvPr userDrawn="1"/>
          </p:nvSpPr>
          <p:spPr>
            <a:xfrm>
              <a:off x="32407" y="37041"/>
              <a:ext cx="5520" cy="1583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txBody>
            <a:bodyPr vert="horz" wrap="square" lIns="77648" tIns="38824" rIns="77648" bIns="38824" numCol="1" rtlCol="0" anchor="ctr" anchorCtr="0" compatLnSpc="1">
              <a:noAutofit/>
            </a:bodyPr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zh-CN" sz="2715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Fira Code SemiBold" charset="0"/>
                  <a:ea typeface="Fira Code SemiBold" charset="0"/>
                  <a:cs typeface="Fira Code SemiBold" charset="0"/>
                </a:rPr>
                <a:t>gpr[32]</a:t>
              </a:r>
              <a:endPara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endParaRPr>
            </a:p>
          </p:txBody>
        </p:sp>
        <p:sp>
          <p:nvSpPr>
            <p:cNvPr id="155" name="圆角矩形 154"/>
            <p:cNvSpPr/>
            <p:nvPr userDrawn="1"/>
          </p:nvSpPr>
          <p:spPr>
            <a:xfrm>
              <a:off x="39105" y="37041"/>
              <a:ext cx="5462" cy="1583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txBody>
            <a:bodyPr vert="horz" wrap="square" lIns="77648" tIns="38824" rIns="77648" bIns="38824" numCol="1" rtlCol="0" anchor="ctr" anchorCtr="0" compatLnSpc="1">
              <a:noAutofit/>
            </a:bodyPr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zh-CN" sz="2715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Fira Code SemiBold" charset="0"/>
                  <a:ea typeface="Fira Code SemiBold" charset="0"/>
                  <a:cs typeface="Fira Code SemiBold" charset="0"/>
                </a:rPr>
                <a:t>fpr[32]</a:t>
              </a:r>
              <a:endPara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endParaRPr>
            </a:p>
          </p:txBody>
        </p:sp>
        <p:sp>
          <p:nvSpPr>
            <p:cNvPr id="156" name="圆角矩形 155"/>
            <p:cNvSpPr/>
            <p:nvPr userDrawn="1"/>
          </p:nvSpPr>
          <p:spPr>
            <a:xfrm>
              <a:off x="32429" y="39295"/>
              <a:ext cx="5525" cy="142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txBody>
            <a:bodyPr vert="horz" wrap="square" lIns="77648" tIns="38824" rIns="77648" bIns="38824" numCol="1" rtlCol="0" anchor="ctr" anchorCtr="0" compatLnSpc="1">
              <a:noAutofit/>
            </a:bodyPr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zh-CN" sz="2715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Fira Code SemiBold" charset="0"/>
                  <a:ea typeface="Fira Code SemiBold" charset="0"/>
                  <a:cs typeface="Fira Code SemiBold" charset="0"/>
                </a:rPr>
                <a:t>vr[32]</a:t>
              </a:r>
              <a:endPara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endParaRPr>
            </a:p>
          </p:txBody>
        </p:sp>
        <p:sp>
          <p:nvSpPr>
            <p:cNvPr id="157" name="圆角矩形 156"/>
            <p:cNvSpPr/>
            <p:nvPr userDrawn="1"/>
          </p:nvSpPr>
          <p:spPr>
            <a:xfrm>
              <a:off x="39105" y="39338"/>
              <a:ext cx="5458" cy="1383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txBody>
            <a:bodyPr vert="horz" wrap="square" lIns="77648" tIns="38824" rIns="77648" bIns="38824" numCol="1" rtlCol="0" anchor="ctr" anchorCtr="0" compatLnSpc="1">
              <a:noAutofit/>
            </a:bodyPr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zh-CN" sz="2715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Fira Code SemiBold" charset="0"/>
                  <a:ea typeface="Fira Code SemiBold" charset="0"/>
                  <a:cs typeface="Fira Code SemiBold" charset="0"/>
                </a:rPr>
                <a:t>mstatus ...</a:t>
              </a:r>
              <a:endPara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endParaRPr>
            </a:p>
          </p:txBody>
        </p:sp>
        <p:sp>
          <p:nvSpPr>
            <p:cNvPr id="149" name="圆角矩形 148"/>
            <p:cNvSpPr/>
            <p:nvPr userDrawn="1"/>
          </p:nvSpPr>
          <p:spPr>
            <a:xfrm>
              <a:off x="31522" y="29782"/>
              <a:ext cx="13646" cy="3295"/>
            </a:xfrm>
            <a:prstGeom prst="roundRect">
              <a:avLst>
                <a:gd name="adj" fmla="val 4472"/>
              </a:avLst>
            </a:prstGeom>
            <a:solidFill>
              <a:schemeClr val="accent3">
                <a:lumMod val="95000"/>
              </a:schemeClr>
            </a:solidFill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="horz" wrap="square" lIns="77648" tIns="38824" rIns="77648" bIns="38824" numCol="1" rtlCol="0" anchor="t" anchorCtr="0" compatLnSpc="1">
              <a:noAutofit/>
            </a:bodyPr>
            <a:p>
              <a:pPr marL="0" marR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715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Fira Code SemiBold" charset="0"/>
                  <a:ea typeface="Fira Code SemiBold" charset="0"/>
                  <a:cs typeface="Fira Code SemiBold" charset="0"/>
                </a:rPr>
                <a:t>difftest</a:t>
              </a:r>
              <a:endPara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endParaRPr>
            </a:p>
          </p:txBody>
        </p:sp>
        <p:sp>
          <p:nvSpPr>
            <p:cNvPr id="158" name="圆角矩形 157"/>
            <p:cNvSpPr/>
            <p:nvPr userDrawn="1"/>
          </p:nvSpPr>
          <p:spPr>
            <a:xfrm>
              <a:off x="32071" y="31301"/>
              <a:ext cx="4096" cy="1245"/>
            </a:xfrm>
            <a:prstGeom prst="roundRect">
              <a:avLst/>
            </a:prstGeom>
            <a:solidFill>
              <a:srgbClr val="ABEBB3"/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txBody>
            <a:bodyPr vert="horz" wrap="square" lIns="77648" tIns="38824" rIns="77648" bIns="38824" numCol="1" rtlCol="0" anchor="ctr" anchorCtr="0" compatLnSpc="1">
              <a:noAutofit/>
            </a:bodyPr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zh-CN" sz="2715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Fira Code SemiBold" charset="0"/>
                  <a:ea typeface="Fira Code SemiBold" charset="0"/>
                  <a:cs typeface="Fira Code SemiBold" charset="0"/>
                </a:rPr>
                <a:t>read_csr</a:t>
              </a:r>
              <a:endPara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endParaRPr>
            </a:p>
          </p:txBody>
        </p:sp>
        <p:sp>
          <p:nvSpPr>
            <p:cNvPr id="159" name="圆角矩形 158"/>
            <p:cNvSpPr/>
            <p:nvPr userDrawn="1"/>
          </p:nvSpPr>
          <p:spPr>
            <a:xfrm>
              <a:off x="36520" y="31226"/>
              <a:ext cx="3964" cy="1245"/>
            </a:xfrm>
            <a:prstGeom prst="roundRect">
              <a:avLst/>
            </a:prstGeom>
            <a:solidFill>
              <a:srgbClr val="ABEBB3"/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txBody>
            <a:bodyPr vert="horz" wrap="square" lIns="77648" tIns="38824" rIns="77648" bIns="38824" numCol="1" rtlCol="0" anchor="ctr" anchorCtr="0" compatLnSpc="1">
              <a:noAutofit/>
            </a:bodyPr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zh-CN" sz="2715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Fira Code SemiBold" charset="0"/>
                  <a:ea typeface="Fira Code SemiBold" charset="0"/>
                  <a:cs typeface="Fira Code SemiBold" charset="0"/>
                </a:rPr>
                <a:t>mem_cpy</a:t>
              </a:r>
              <a:endPara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endParaRPr>
            </a:p>
          </p:txBody>
        </p:sp>
        <p:sp>
          <p:nvSpPr>
            <p:cNvPr id="160" name="圆角矩形 159"/>
            <p:cNvSpPr/>
            <p:nvPr userDrawn="1"/>
          </p:nvSpPr>
          <p:spPr>
            <a:xfrm>
              <a:off x="41014" y="31226"/>
              <a:ext cx="3925" cy="1245"/>
            </a:xfrm>
            <a:prstGeom prst="roundRect">
              <a:avLst/>
            </a:prstGeom>
            <a:solidFill>
              <a:schemeClr val="accent3">
                <a:lumMod val="65000"/>
              </a:scheme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txBody>
            <a:bodyPr vert="horz" wrap="square" lIns="77648" tIns="38824" rIns="77648" bIns="38824" numCol="1" rtlCol="0" anchor="ctr" anchorCtr="0" compatLnSpc="1">
              <a:noAutofit/>
            </a:bodyPr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zh-CN" sz="2715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Fira Code SemiBold" charset="0"/>
                  <a:ea typeface="Fira Code SemiBold" charset="0"/>
                  <a:cs typeface="Fira Code SemiBold" charset="0"/>
                </a:rPr>
                <a:t>execute</a:t>
              </a:r>
              <a:endPara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endParaRPr>
            </a:p>
          </p:txBody>
        </p:sp>
        <p:sp>
          <p:nvSpPr>
            <p:cNvPr id="45" name="圆角矩形 44"/>
            <p:cNvSpPr/>
            <p:nvPr userDrawn="1"/>
          </p:nvSpPr>
          <p:spPr>
            <a:xfrm>
              <a:off x="31523" y="25363"/>
              <a:ext cx="13663" cy="3713"/>
            </a:xfrm>
            <a:prstGeom prst="roundRect">
              <a:avLst>
                <a:gd name="adj" fmla="val 4472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="horz" wrap="square" lIns="77648" tIns="38824" rIns="77648" bIns="38824" numCol="1" rtlCol="0" anchor="t" anchorCtr="0" compatLnSpc="1">
              <a:noAutofit/>
            </a:bodyPr>
            <a:p>
              <a:pPr marL="0" marR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715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Fira Code SemiBold" charset="0"/>
                  <a:ea typeface="Fira Code SemiBold" charset="0"/>
                  <a:cs typeface="Fira Code SemiBold" charset="0"/>
                </a:rPr>
                <a:t>Workflow</a:t>
              </a:r>
              <a:endPara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endParaRPr>
            </a:p>
          </p:txBody>
        </p:sp>
        <p:sp>
          <p:nvSpPr>
            <p:cNvPr id="46" name="圆角矩形 45"/>
            <p:cNvSpPr/>
            <p:nvPr userDrawn="1"/>
          </p:nvSpPr>
          <p:spPr>
            <a:xfrm>
              <a:off x="41139" y="27146"/>
              <a:ext cx="3424" cy="1245"/>
            </a:xfrm>
            <a:prstGeom prst="roundRect">
              <a:avLst/>
            </a:prstGeom>
            <a:solidFill>
              <a:srgbClr val="CCCC00"/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txBody>
            <a:bodyPr vert="horz" wrap="square" lIns="77648" tIns="38824" rIns="77648" bIns="38824" numCol="1" rtlCol="0" anchor="ctr" anchorCtr="0" compatLnSpc="1">
              <a:noAutofit/>
            </a:bodyPr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zh-CN" sz="2715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Fira Code SemiBold" charset="0"/>
                  <a:ea typeface="Fira Code SemiBold" charset="0"/>
                  <a:cs typeface="Fira Code SemiBold" charset="0"/>
                </a:rPr>
                <a:t>fetch</a:t>
              </a:r>
              <a:endPara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endParaRPr>
            </a:p>
          </p:txBody>
        </p:sp>
        <p:sp>
          <p:nvSpPr>
            <p:cNvPr id="39" name="圆角矩形 38"/>
            <p:cNvSpPr/>
            <p:nvPr userDrawn="1"/>
          </p:nvSpPr>
          <p:spPr>
            <a:xfrm>
              <a:off x="36715" y="27146"/>
              <a:ext cx="3424" cy="1245"/>
            </a:xfrm>
            <a:prstGeom prst="roundRect">
              <a:avLst/>
            </a:prstGeom>
            <a:solidFill>
              <a:srgbClr val="B1D6C6"/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txBody>
            <a:bodyPr vert="horz" wrap="square" lIns="77648" tIns="38824" rIns="77648" bIns="38824" numCol="1" rtlCol="0" anchor="ctr" anchorCtr="0" compatLnSpc="1">
              <a:noAutofit/>
            </a:bodyPr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zh-CN" sz="2715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Fira Code SemiBold" charset="0"/>
                  <a:ea typeface="Fira Code SemiBold" charset="0"/>
                  <a:cs typeface="Fira Code SemiBold" charset="0"/>
                </a:rPr>
                <a:t>encdec</a:t>
              </a:r>
              <a:endPara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endParaRPr>
            </a:p>
          </p:txBody>
        </p:sp>
        <p:sp>
          <p:nvSpPr>
            <p:cNvPr id="41" name="圆角矩形 40"/>
            <p:cNvSpPr/>
            <p:nvPr userDrawn="1"/>
          </p:nvSpPr>
          <p:spPr>
            <a:xfrm>
              <a:off x="32407" y="27146"/>
              <a:ext cx="3424" cy="1245"/>
            </a:xfrm>
            <a:prstGeom prst="roundRect">
              <a:avLst/>
            </a:prstGeom>
            <a:solidFill>
              <a:srgbClr val="A7D8DE"/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txBody>
            <a:bodyPr vert="horz" wrap="square" lIns="77648" tIns="38824" rIns="77648" bIns="38824" numCol="1" rtlCol="0" anchor="ctr" anchorCtr="0" compatLnSpc="1">
              <a:noAutofit/>
            </a:bodyPr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zh-CN" sz="2715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Fira Code SemiBold" charset="0"/>
                  <a:ea typeface="Fira Code SemiBold" charset="0"/>
                  <a:cs typeface="Fira Code SemiBold" charset="0"/>
                </a:rPr>
                <a:t>execute</a:t>
              </a:r>
              <a:endPara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endParaRPr>
            </a:p>
          </p:txBody>
        </p:sp>
        <p:sp>
          <p:nvSpPr>
            <p:cNvPr id="167" name="圆角矩形 166"/>
            <p:cNvSpPr/>
            <p:nvPr userDrawn="1"/>
          </p:nvSpPr>
          <p:spPr>
            <a:xfrm>
              <a:off x="39105" y="34450"/>
              <a:ext cx="5475" cy="1583"/>
            </a:xfrm>
            <a:prstGeom prst="roundRect">
              <a:avLst/>
            </a:prstGeom>
            <a:solidFill>
              <a:srgbClr val="A7D8DE"/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txBody>
            <a:bodyPr vert="horz" wrap="square" lIns="77648" tIns="38824" rIns="77648" bIns="38824" numCol="1" rtlCol="0" anchor="ctr" anchorCtr="0" compatLnSpc="1">
              <a:noAutofit/>
            </a:bodyPr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zh-CN" sz="2715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Fira Code SemiBold" charset="0"/>
                  <a:ea typeface="Fira Code SemiBold" charset="0"/>
                  <a:cs typeface="Fira Code SemiBold" charset="0"/>
                </a:rPr>
                <a:t>Memory State</a:t>
              </a:r>
              <a:endPara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endParaRPr>
            </a:p>
          </p:txBody>
        </p:sp>
        <p:cxnSp>
          <p:nvCxnSpPr>
            <p:cNvPr id="174" name="直接箭头连接符 173"/>
            <p:cNvCxnSpPr>
              <a:endCxn id="158" idx="0"/>
            </p:cNvCxnSpPr>
            <p:nvPr/>
          </p:nvCxnSpPr>
          <p:spPr>
            <a:xfrm>
              <a:off x="34119" y="28391"/>
              <a:ext cx="0" cy="291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64" name="直接箭头连接符 163"/>
            <p:cNvCxnSpPr>
              <a:stCxn id="160" idx="0"/>
              <a:endCxn id="46" idx="2"/>
            </p:cNvCxnSpPr>
            <p:nvPr/>
          </p:nvCxnSpPr>
          <p:spPr>
            <a:xfrm flipH="1" flipV="1">
              <a:off x="42851" y="28391"/>
              <a:ext cx="126" cy="283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75" name="直接箭头连接符 174"/>
            <p:cNvCxnSpPr>
              <a:stCxn id="41" idx="2"/>
              <a:endCxn id="159" idx="0"/>
            </p:cNvCxnSpPr>
            <p:nvPr/>
          </p:nvCxnSpPr>
          <p:spPr>
            <a:xfrm>
              <a:off x="34119" y="28391"/>
              <a:ext cx="4383" cy="283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79" name="圆角矩形 178"/>
            <p:cNvSpPr/>
            <p:nvPr userDrawn="1"/>
          </p:nvSpPr>
          <p:spPr>
            <a:xfrm>
              <a:off x="32407" y="34580"/>
              <a:ext cx="5547" cy="1583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txBody>
            <a:bodyPr vert="horz" wrap="square" lIns="77648" tIns="38824" rIns="77648" bIns="38824" numCol="1" rtlCol="0" anchor="ctr" anchorCtr="0" compatLnSpc="1">
              <a:noAutofit/>
            </a:bodyPr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zh-CN" sz="2715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Fira Code SemiBold" charset="0"/>
                  <a:ea typeface="Fira Code SemiBold" charset="0"/>
                  <a:cs typeface="Fira Code SemiBold" charset="0"/>
                </a:rPr>
                <a:t>pc/nextpc</a:t>
              </a:r>
              <a:endPara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endParaRPr>
            </a:p>
          </p:txBody>
        </p:sp>
        <p:cxnSp>
          <p:nvCxnSpPr>
            <p:cNvPr id="183" name="直接箭头连接符 182"/>
            <p:cNvCxnSpPr>
              <a:stCxn id="158" idx="2"/>
              <a:endCxn id="178" idx="3"/>
            </p:cNvCxnSpPr>
            <p:nvPr/>
          </p:nvCxnSpPr>
          <p:spPr>
            <a:xfrm>
              <a:off x="34119" y="32546"/>
              <a:ext cx="1015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84" name="直接箭头连接符 183"/>
            <p:cNvCxnSpPr>
              <a:endCxn id="167" idx="0"/>
            </p:cNvCxnSpPr>
            <p:nvPr/>
          </p:nvCxnSpPr>
          <p:spPr>
            <a:xfrm>
              <a:off x="39872" y="32546"/>
              <a:ext cx="1971" cy="190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sp>
        <p:nvSpPr>
          <p:cNvPr id="196" name="圆角矩形 195"/>
          <p:cNvSpPr/>
          <p:nvPr userDrawn="1"/>
        </p:nvSpPr>
        <p:spPr>
          <a:xfrm>
            <a:off x="15829915" y="18376900"/>
            <a:ext cx="3631565" cy="7379335"/>
          </a:xfrm>
          <a:prstGeom prst="roundRect">
            <a:avLst>
              <a:gd name="adj" fmla="val 4472"/>
            </a:avLst>
          </a:prstGeom>
          <a:noFill/>
          <a:ln w="38100" cap="flat" cmpd="sng" algn="ctr">
            <a:solidFill>
              <a:srgbClr val="002060">
                <a:alpha val="100000"/>
              </a:srgbClr>
            </a:solidFill>
            <a:prstDash val="dash"/>
            <a:miter lim="800000"/>
          </a:ln>
        </p:spPr>
        <p:txBody>
          <a:bodyPr vert="horz" wrap="square" lIns="77648" tIns="38824" rIns="77648" bIns="38824" numCol="1" rtlCol="0" anchor="t" anchorCtr="0" compatLnSpc="1">
            <a:noAutofit/>
          </a:bodyPr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zh-CN" sz="2715" smtClean="0">
              <a:ln>
                <a:noFill/>
              </a:ln>
              <a:solidFill>
                <a:srgbClr val="426877"/>
              </a:solidFill>
              <a:effectLst/>
              <a:latin typeface="Fira Code SemiBold" charset="0"/>
              <a:ea typeface="Fira Code SemiBold" charset="0"/>
              <a:cs typeface="Fira Code SemiBold" charset="0"/>
            </a:endParaRPr>
          </a:p>
        </p:txBody>
      </p:sp>
      <p:grpSp>
        <p:nvGrpSpPr>
          <p:cNvPr id="206" name="组合 205"/>
          <p:cNvGrpSpPr/>
          <p:nvPr/>
        </p:nvGrpSpPr>
        <p:grpSpPr>
          <a:xfrm>
            <a:off x="15834360" y="14291945"/>
            <a:ext cx="3627120" cy="3826510"/>
            <a:chOff x="24817" y="23733"/>
            <a:chExt cx="5712" cy="6026"/>
          </a:xfrm>
        </p:grpSpPr>
        <p:grpSp>
          <p:nvGrpSpPr>
            <p:cNvPr id="148" name="组合 147"/>
            <p:cNvGrpSpPr/>
            <p:nvPr/>
          </p:nvGrpSpPr>
          <p:grpSpPr>
            <a:xfrm>
              <a:off x="25155" y="24506"/>
              <a:ext cx="5092" cy="4251"/>
              <a:chOff x="27182" y="38433"/>
              <a:chExt cx="6564" cy="4530"/>
            </a:xfrm>
          </p:grpSpPr>
          <p:sp>
            <p:nvSpPr>
              <p:cNvPr id="127" name="圆角矩形 126"/>
              <p:cNvSpPr/>
              <p:nvPr userDrawn="1"/>
            </p:nvSpPr>
            <p:spPr>
              <a:xfrm>
                <a:off x="27797" y="38433"/>
                <a:ext cx="4511" cy="1245"/>
              </a:xfrm>
              <a:prstGeom prst="roundRect">
                <a:avLst/>
              </a:prstGeom>
              <a:solidFill>
                <a:srgbClr val="FFCEA4"/>
              </a:solidFill>
              <a:ln w="12700" cap="flat" cmpd="sng" algn="ctr">
                <a:solidFill>
                  <a:srgbClr val="AEB5C0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vert="horz" wrap="square" lIns="77648" tIns="38824" rIns="77648" bIns="38824" numCol="1" rtlCol="0" anchor="ctr" anchorCtr="0" compatLnSpc="1">
                <a:noAutofit/>
              </a:bodyPr>
              <a:p>
                <a:pPr marR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zh-CN" sz="2715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Fira Code SemiBold" charset="0"/>
                    <a:ea typeface="Fira Code SemiBold" charset="0"/>
                    <a:cs typeface="Fira Code SemiBold" charset="0"/>
                  </a:rPr>
                  <a:t>test.elf</a:t>
                </a:r>
                <a:endParaRPr lang="en-US" altLang="zh-CN" sz="2715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Fira Code SemiBold" charset="0"/>
                  <a:ea typeface="Fira Code SemiBold" charset="0"/>
                  <a:cs typeface="Fira Code SemiBold" charset="0"/>
                </a:endParaRPr>
              </a:p>
            </p:txBody>
          </p:sp>
          <p:grpSp>
            <p:nvGrpSpPr>
              <p:cNvPr id="140" name="组合 139"/>
              <p:cNvGrpSpPr/>
              <p:nvPr/>
            </p:nvGrpSpPr>
            <p:grpSpPr>
              <a:xfrm>
                <a:off x="27182" y="40523"/>
                <a:ext cx="6564" cy="2440"/>
                <a:chOff x="28055" y="29439"/>
                <a:chExt cx="6564" cy="2440"/>
              </a:xfrm>
            </p:grpSpPr>
            <p:sp>
              <p:nvSpPr>
                <p:cNvPr id="130" name="圆角矩形 129"/>
                <p:cNvSpPr/>
                <p:nvPr userDrawn="1"/>
              </p:nvSpPr>
              <p:spPr>
                <a:xfrm>
                  <a:off x="28055" y="29439"/>
                  <a:ext cx="5564" cy="1440"/>
                </a:xfrm>
                <a:prstGeom prst="roundRect">
                  <a:avLst/>
                </a:prstGeom>
                <a:solidFill>
                  <a:srgbClr val="A7D8DE"/>
                </a:solidFill>
                <a:ln w="12700" cap="flat" cmpd="sng" algn="ctr">
                  <a:solidFill>
                    <a:srgbClr val="AEB5C0">
                      <a:alpha val="100000"/>
                    </a:srgbClr>
                  </a:solidFill>
                  <a:prstDash val="solid"/>
                  <a:miter lim="800000"/>
                </a:ln>
              </p:spPr>
              <p:txBody>
                <a:bodyPr vert="horz" wrap="square" lIns="77648" tIns="38824" rIns="77648" bIns="38824" numCol="1" rtlCol="0" anchor="ctr" anchorCtr="0" compatLnSpc="1">
                  <a:noAutofit/>
                </a:bodyPr>
                <a:p>
                  <a:pPr marR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r>
                    <a:rPr lang="en-US" altLang="zh-CN" sz="2715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Fira Code SemiBold" charset="0"/>
                      <a:ea typeface="Fira Code SemiBold" charset="0"/>
                      <a:cs typeface="Fira Code SemiBold" charset="0"/>
                    </a:rPr>
                    <a:t>Instruction</a:t>
                  </a:r>
                  <a:endParaRPr lang="en-US" altLang="zh-CN" sz="2715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Fira Code SemiBold" charset="0"/>
                    <a:ea typeface="Fira Code SemiBold" charset="0"/>
                    <a:cs typeface="Fira Code SemiBold" charset="0"/>
                  </a:endParaRPr>
                </a:p>
              </p:txBody>
            </p:sp>
            <p:sp>
              <p:nvSpPr>
                <p:cNvPr id="131" name="圆角矩形 130"/>
                <p:cNvSpPr/>
                <p:nvPr userDrawn="1"/>
              </p:nvSpPr>
              <p:spPr>
                <a:xfrm>
                  <a:off x="28255" y="29639"/>
                  <a:ext cx="5564" cy="1440"/>
                </a:xfrm>
                <a:prstGeom prst="roundRect">
                  <a:avLst/>
                </a:prstGeom>
                <a:solidFill>
                  <a:srgbClr val="A7D8DE"/>
                </a:solidFill>
                <a:ln w="12700" cap="flat" cmpd="sng" algn="ctr">
                  <a:solidFill>
                    <a:srgbClr val="AEB5C0">
                      <a:alpha val="100000"/>
                    </a:srgbClr>
                  </a:solidFill>
                  <a:prstDash val="solid"/>
                  <a:miter lim="800000"/>
                </a:ln>
              </p:spPr>
              <p:txBody>
                <a:bodyPr vert="horz" wrap="square" lIns="77648" tIns="38824" rIns="77648" bIns="38824" numCol="1" rtlCol="0" anchor="ctr" anchorCtr="0" compatLnSpc="1">
                  <a:noAutofit/>
                </a:bodyPr>
                <a:p>
                  <a:pPr marR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r>
                    <a:rPr lang="en-US" altLang="zh-CN" sz="2715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Fira Code SemiBold" charset="0"/>
                      <a:ea typeface="Fira Code SemiBold" charset="0"/>
                      <a:cs typeface="Fira Code SemiBold" charset="0"/>
                    </a:rPr>
                    <a:t>Instruction</a:t>
                  </a:r>
                  <a:endParaRPr lang="en-US" altLang="zh-CN" sz="2715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Fira Code SemiBold" charset="0"/>
                    <a:ea typeface="Fira Code SemiBold" charset="0"/>
                    <a:cs typeface="Fira Code SemiBold" charset="0"/>
                  </a:endParaRPr>
                </a:p>
              </p:txBody>
            </p:sp>
            <p:sp>
              <p:nvSpPr>
                <p:cNvPr id="132" name="圆角矩形 131"/>
                <p:cNvSpPr/>
                <p:nvPr userDrawn="1"/>
              </p:nvSpPr>
              <p:spPr>
                <a:xfrm>
                  <a:off x="28455" y="29839"/>
                  <a:ext cx="5564" cy="1440"/>
                </a:xfrm>
                <a:prstGeom prst="roundRect">
                  <a:avLst/>
                </a:prstGeom>
                <a:solidFill>
                  <a:srgbClr val="A7D8DE"/>
                </a:solidFill>
                <a:ln w="12700" cap="flat" cmpd="sng" algn="ctr">
                  <a:solidFill>
                    <a:srgbClr val="AEB5C0">
                      <a:alpha val="100000"/>
                    </a:srgbClr>
                  </a:solidFill>
                  <a:prstDash val="solid"/>
                  <a:miter lim="800000"/>
                </a:ln>
              </p:spPr>
              <p:txBody>
                <a:bodyPr vert="horz" wrap="square" lIns="77648" tIns="38824" rIns="77648" bIns="38824" numCol="1" rtlCol="0" anchor="ctr" anchorCtr="0" compatLnSpc="1">
                  <a:noAutofit/>
                </a:bodyPr>
                <a:p>
                  <a:pPr marR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r>
                    <a:rPr lang="en-US" altLang="zh-CN" sz="2715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Fira Code SemiBold" charset="0"/>
                      <a:ea typeface="Fira Code SemiBold" charset="0"/>
                      <a:cs typeface="Fira Code SemiBold" charset="0"/>
                    </a:rPr>
                    <a:t>Instruction</a:t>
                  </a:r>
                  <a:endParaRPr lang="en-US" altLang="zh-CN" sz="2715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Fira Code SemiBold" charset="0"/>
                    <a:ea typeface="Fira Code SemiBold" charset="0"/>
                    <a:cs typeface="Fira Code SemiBold" charset="0"/>
                  </a:endParaRPr>
                </a:p>
              </p:txBody>
            </p:sp>
            <p:sp>
              <p:nvSpPr>
                <p:cNvPr id="133" name="圆角矩形 132"/>
                <p:cNvSpPr/>
                <p:nvPr userDrawn="1"/>
              </p:nvSpPr>
              <p:spPr>
                <a:xfrm>
                  <a:off x="28655" y="30039"/>
                  <a:ext cx="5564" cy="1440"/>
                </a:xfrm>
                <a:prstGeom prst="roundRect">
                  <a:avLst/>
                </a:prstGeom>
                <a:solidFill>
                  <a:srgbClr val="A7D8DE"/>
                </a:solidFill>
                <a:ln w="12700" cap="flat" cmpd="sng" algn="ctr">
                  <a:solidFill>
                    <a:srgbClr val="AEB5C0">
                      <a:alpha val="100000"/>
                    </a:srgbClr>
                  </a:solidFill>
                  <a:prstDash val="solid"/>
                  <a:miter lim="800000"/>
                </a:ln>
              </p:spPr>
              <p:txBody>
                <a:bodyPr vert="horz" wrap="square" lIns="77648" tIns="38824" rIns="77648" bIns="38824" numCol="1" rtlCol="0" anchor="ctr" anchorCtr="0" compatLnSpc="1">
                  <a:noAutofit/>
                </a:bodyPr>
                <a:p>
                  <a:pPr marR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r>
                    <a:rPr lang="en-US" altLang="zh-CN" sz="2715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Fira Code SemiBold" charset="0"/>
                      <a:ea typeface="Fira Code SemiBold" charset="0"/>
                      <a:cs typeface="Fira Code SemiBold" charset="0"/>
                    </a:rPr>
                    <a:t>Instruction</a:t>
                  </a:r>
                  <a:endParaRPr lang="en-US" altLang="zh-CN" sz="2715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Fira Code SemiBold" charset="0"/>
                    <a:ea typeface="Fira Code SemiBold" charset="0"/>
                    <a:cs typeface="Fira Code SemiBold" charset="0"/>
                  </a:endParaRPr>
                </a:p>
              </p:txBody>
            </p:sp>
            <p:sp>
              <p:nvSpPr>
                <p:cNvPr id="138" name="圆角矩形 137"/>
                <p:cNvSpPr/>
                <p:nvPr userDrawn="1"/>
              </p:nvSpPr>
              <p:spPr>
                <a:xfrm>
                  <a:off x="28855" y="30239"/>
                  <a:ext cx="5564" cy="1440"/>
                </a:xfrm>
                <a:prstGeom prst="roundRect">
                  <a:avLst/>
                </a:prstGeom>
                <a:solidFill>
                  <a:srgbClr val="A7D8DE"/>
                </a:solidFill>
                <a:ln w="12700" cap="flat" cmpd="sng" algn="ctr">
                  <a:solidFill>
                    <a:srgbClr val="AEB5C0">
                      <a:alpha val="100000"/>
                    </a:srgbClr>
                  </a:solidFill>
                  <a:prstDash val="solid"/>
                  <a:miter lim="800000"/>
                </a:ln>
              </p:spPr>
              <p:txBody>
                <a:bodyPr vert="horz" wrap="square" lIns="77648" tIns="38824" rIns="77648" bIns="38824" numCol="1" rtlCol="0" anchor="ctr" anchorCtr="0" compatLnSpc="1">
                  <a:noAutofit/>
                </a:bodyPr>
                <a:p>
                  <a:pPr marR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r>
                    <a:rPr lang="en-US" altLang="zh-CN" sz="2715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Fira Code SemiBold" charset="0"/>
                      <a:ea typeface="Fira Code SemiBold" charset="0"/>
                      <a:cs typeface="Fira Code SemiBold" charset="0"/>
                    </a:rPr>
                    <a:t>Instruction</a:t>
                  </a:r>
                  <a:endParaRPr lang="en-US" altLang="zh-CN" sz="2715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Fira Code SemiBold" charset="0"/>
                    <a:ea typeface="Fira Code SemiBold" charset="0"/>
                    <a:cs typeface="Fira Code SemiBold" charset="0"/>
                  </a:endParaRPr>
                </a:p>
              </p:txBody>
            </p:sp>
            <p:sp>
              <p:nvSpPr>
                <p:cNvPr id="139" name="圆角矩形 138"/>
                <p:cNvSpPr/>
                <p:nvPr userDrawn="1"/>
              </p:nvSpPr>
              <p:spPr>
                <a:xfrm>
                  <a:off x="29055" y="30439"/>
                  <a:ext cx="5564" cy="1440"/>
                </a:xfrm>
                <a:prstGeom prst="roundRect">
                  <a:avLst/>
                </a:prstGeom>
                <a:solidFill>
                  <a:srgbClr val="A7D8DE"/>
                </a:solidFill>
                <a:ln w="12700" cap="flat" cmpd="sng" algn="ctr">
                  <a:solidFill>
                    <a:srgbClr val="AEB5C0">
                      <a:alpha val="100000"/>
                    </a:srgbClr>
                  </a:solidFill>
                  <a:prstDash val="solid"/>
                  <a:miter lim="800000"/>
                </a:ln>
              </p:spPr>
              <p:txBody>
                <a:bodyPr vert="horz" wrap="square" lIns="77648" tIns="38824" rIns="77648" bIns="38824" numCol="1" rtlCol="0" anchor="ctr" anchorCtr="0" compatLnSpc="1">
                  <a:noAutofit/>
                </a:bodyPr>
                <a:p>
                  <a:pPr marR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r>
                    <a:rPr lang="en-US" altLang="zh-CN" sz="2715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Fira Code SemiBold" charset="0"/>
                      <a:ea typeface="Fira Code SemiBold" charset="0"/>
                      <a:cs typeface="Fira Code SemiBold" charset="0"/>
                    </a:rPr>
                    <a:t>Instruction</a:t>
                  </a:r>
                  <a:endParaRPr lang="en-US" altLang="zh-CN" sz="2715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Fira Code SemiBold" charset="0"/>
                    <a:ea typeface="Fira Code SemiBold" charset="0"/>
                    <a:cs typeface="Fira Code SemiBold" charset="0"/>
                  </a:endParaRPr>
                </a:p>
              </p:txBody>
            </p:sp>
          </p:grpSp>
        </p:grpSp>
        <p:sp>
          <p:nvSpPr>
            <p:cNvPr id="197" name="圆角矩形 196"/>
            <p:cNvSpPr/>
            <p:nvPr userDrawn="1"/>
          </p:nvSpPr>
          <p:spPr>
            <a:xfrm>
              <a:off x="24817" y="23733"/>
              <a:ext cx="5712" cy="6027"/>
            </a:xfrm>
            <a:prstGeom prst="roundRect">
              <a:avLst>
                <a:gd name="adj" fmla="val 4472"/>
              </a:avLst>
            </a:prstGeom>
            <a:noFill/>
            <a:ln w="38100" cap="flat" cmpd="sng" algn="ctr">
              <a:solidFill>
                <a:srgbClr val="002060">
                  <a:alpha val="100000"/>
                </a:srgbClr>
              </a:solidFill>
              <a:prstDash val="dash"/>
              <a:miter lim="800000"/>
            </a:ln>
          </p:spPr>
          <p:txBody>
            <a:bodyPr vert="horz" wrap="square" lIns="77648" tIns="38824" rIns="77648" bIns="38824" numCol="1" rtlCol="0" anchor="t" anchorCtr="0" compatLnSpc="1">
              <a:noAutofit/>
            </a:bodyPr>
            <a:p>
              <a:pPr marL="0" marR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lang="en-US" altLang="zh-CN" sz="2715" smtClean="0">
                <a:ln>
                  <a:noFill/>
                </a:ln>
                <a:solidFill>
                  <a:srgbClr val="426877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endParaRPr>
            </a:p>
          </p:txBody>
        </p:sp>
      </p:grpSp>
      <p:sp>
        <p:nvSpPr>
          <p:cNvPr id="204" name="圆角矩形 203"/>
          <p:cNvSpPr/>
          <p:nvPr userDrawn="1"/>
        </p:nvSpPr>
        <p:spPr>
          <a:xfrm>
            <a:off x="16147415" y="22102445"/>
            <a:ext cx="3054350" cy="100520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txBody>
          <a:bodyPr vert="horz" wrap="square" lIns="77648" tIns="38824" rIns="77648" bIns="38824" numCol="1" rtlCol="0" anchor="ctr" anchorCtr="0" compatLnSpc="1">
            <a:noAutofit/>
          </a:bodyPr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rPr>
              <a:t>Pydrofoil</a:t>
            </a:r>
            <a:endParaRPr lang="en-US" altLang="zh-CN" sz="2715" smtClean="0">
              <a:ln>
                <a:noFill/>
              </a:ln>
              <a:solidFill>
                <a:srgbClr val="000000"/>
              </a:solidFill>
              <a:effectLst/>
              <a:latin typeface="Fira Code SemiBold" charset="0"/>
              <a:ea typeface="Fira Code SemiBold" charset="0"/>
              <a:cs typeface="Fira Code SemiBold" charset="0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15910560" y="26377265"/>
            <a:ext cx="13314680" cy="6660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571500" indent="-571500" algn="l">
              <a:lnSpc>
                <a:spcPct val="110000"/>
              </a:lnSpc>
              <a:buFont typeface="Wingdings" panose="05000000000000000000" charset="0"/>
              <a:buChar char="p"/>
            </a:pPr>
            <a:r>
              <a:rPr lang="en-US" altLang="zh-CN" sz="3735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Difftest serves as the test framework here, responsible for driving the execution of tests. It provides a series of interfaces: first is execute, a function that handles driving test execution; then there are interfaces like read_csr and mem_cpy, which are key interfaces for register comparison and memory comparison.</a:t>
            </a:r>
            <a:endParaRPr lang="en-US" altLang="zh-CN" sz="3735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571500" indent="-571500" algn="l">
              <a:lnSpc>
                <a:spcPct val="110000"/>
              </a:lnSpc>
              <a:buFont typeface="Wingdings" panose="05000000000000000000" charset="0"/>
              <a:buChar char="p"/>
            </a:pPr>
            <a:r>
              <a:rPr lang="en-US" altLang="zh-CN" sz="3735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As a </a:t>
            </a:r>
            <a:r>
              <a:rPr lang="en-US" altLang="zh-CN" sz="3735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emulator, Sail naturally includes similar function implementations. Therefore, in our Python implementation, we only need to call the corresponding functions such as step, rX_bits, and {read/write}_mem to achieve the corresponding functionality</a:t>
            </a:r>
            <a:endParaRPr lang="en-US" altLang="zh-CN" sz="3735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l">
              <a:lnSpc>
                <a:spcPct val="110000"/>
              </a:lnSpc>
              <a:buFont typeface="Wingdings" panose="05000000000000000000" charset="0"/>
              <a:buChar char="p"/>
            </a:pPr>
            <a:r>
              <a:rPr lang="en-US" altLang="zh-CN" sz="3735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Compared to implementing a wrapper layer based on C++ or Rust for the sail-model, using Python can significantly reduce boilerplate code and improve development speed. Meanwhile, with the help of CFFI, it can be easily compiled into C without sacrificing performance.</a:t>
            </a:r>
            <a:endParaRPr lang="en-US" altLang="zh-CN" sz="3735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l">
              <a:lnSpc>
                <a:spcPct val="110000"/>
              </a:lnSpc>
              <a:buFont typeface="Wingdings" panose="05000000000000000000" charset="0"/>
              <a:buChar char="p"/>
            </a:pPr>
            <a:endParaRPr lang="en-US" altLang="zh-CN" sz="3735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8" name="圆角矩形 207"/>
          <p:cNvSpPr/>
          <p:nvPr userDrawn="1"/>
        </p:nvSpPr>
        <p:spPr>
          <a:xfrm>
            <a:off x="16109950" y="23563580"/>
            <a:ext cx="3049270" cy="15157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txBody>
          <a:bodyPr vert="horz" wrap="square" lIns="77648" tIns="38824" rIns="77648" bIns="38824" numCol="1" rtlCol="0" anchor="ctr" anchorCtr="0" compatLnSpc="1">
            <a:noAutofit/>
          </a:bodyPr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rPr>
              <a:t>Sail </a:t>
            </a:r>
            <a:r>
              <a: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rPr>
              <a:t>Model</a:t>
            </a:r>
            <a:endParaRPr lang="en-US" altLang="zh-CN" sz="2715" smtClean="0">
              <a:ln>
                <a:noFill/>
              </a:ln>
              <a:solidFill>
                <a:srgbClr val="000000"/>
              </a:solidFill>
              <a:effectLst/>
              <a:latin typeface="Fira Code SemiBold" charset="0"/>
              <a:ea typeface="Fira Code SemiBold" charset="0"/>
              <a:cs typeface="Fira Code SemiBold" charset="0"/>
            </a:endParaRPr>
          </a:p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rPr>
              <a:t>States</a:t>
            </a:r>
            <a:endParaRPr lang="en-US" altLang="zh-CN" sz="2715" smtClean="0">
              <a:ln>
                <a:noFill/>
              </a:ln>
              <a:solidFill>
                <a:srgbClr val="000000"/>
              </a:solidFill>
              <a:effectLst/>
              <a:latin typeface="Fira Code SemiBold" charset="0"/>
              <a:ea typeface="Fira Code SemiBold" charset="0"/>
              <a:cs typeface="Fira Code SemiBold" charset="0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16147415" y="18760440"/>
            <a:ext cx="3011805" cy="1346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latin typeface="Fira Code SemiBold" charset="0"/>
                <a:cs typeface="Fira Code SemiBold" charset="0"/>
              </a:rPr>
              <a:t>Python </a:t>
            </a:r>
            <a:r>
              <a:rPr lang="en-US" altLang="zh-CN" sz="2800">
                <a:latin typeface="Fira Code SemiBold" charset="0"/>
                <a:cs typeface="Fira Code SemiBold" charset="0"/>
              </a:rPr>
              <a:t>Implemation</a:t>
            </a:r>
            <a:endParaRPr lang="en-US" altLang="zh-CN" sz="2800">
              <a:latin typeface="Fira Code SemiBold" charset="0"/>
              <a:cs typeface="Fira Code SemiBold" charset="0"/>
            </a:endParaRPr>
          </a:p>
        </p:txBody>
      </p:sp>
      <p:sp>
        <p:nvSpPr>
          <p:cNvPr id="211" name="圆角矩形 210"/>
          <p:cNvSpPr/>
          <p:nvPr userDrawn="1"/>
        </p:nvSpPr>
        <p:spPr>
          <a:xfrm>
            <a:off x="16147415" y="20498435"/>
            <a:ext cx="3054350" cy="1005205"/>
          </a:xfrm>
          <a:prstGeom prst="roundRect">
            <a:avLst/>
          </a:prstGeom>
          <a:solidFill>
            <a:srgbClr val="DCE8F5"/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txBody>
          <a:bodyPr vert="horz" wrap="square" lIns="77648" tIns="38824" rIns="77648" bIns="38824" numCol="1" rtlCol="0" anchor="ctr" anchorCtr="0" compatLnSpc="1">
            <a:noAutofit/>
          </a:bodyPr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715" smtClean="0">
                <a:ln>
                  <a:noFill/>
                </a:ln>
                <a:solidFill>
                  <a:srgbClr val="000000"/>
                </a:solidFill>
                <a:effectLst/>
                <a:latin typeface="Fira Code SemiBold" charset="0"/>
                <a:ea typeface="Fira Code SemiBold" charset="0"/>
                <a:cs typeface="Fira Code SemiBold" charset="0"/>
              </a:rPr>
              <a:t>Python Wrapper</a:t>
            </a:r>
            <a:endParaRPr lang="en-US" altLang="zh-CN" sz="2715" smtClean="0">
              <a:ln>
                <a:noFill/>
              </a:ln>
              <a:solidFill>
                <a:srgbClr val="000000"/>
              </a:solidFill>
              <a:effectLst/>
              <a:latin typeface="Fira Code SemiBold" charset="0"/>
              <a:ea typeface="Fira Code SemiBold" charset="0"/>
              <a:cs typeface="Fira Code SemiBold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8db0f92f-df17-41ef-839c-1a58a647785f"/>
  <p:tag name="COMMONDATA" val="eyJoZGlkIjoiY2MxOGY3NTkxZjI4NjVmNTM0NmYyMTM4NGU2Yzg4ZD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8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8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3237</Words>
  <Application>WPS 演示</Application>
  <PresentationFormat>自定义</PresentationFormat>
  <Paragraphs>124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Times New Roman</vt:lpstr>
      <vt:lpstr>Wingdings</vt:lpstr>
      <vt:lpstr>Fira Code SemiBold</vt:lpstr>
      <vt:lpstr>微软雅黑</vt:lpstr>
      <vt:lpstr>Arial Unicode MS</vt:lpstr>
      <vt:lpstr>Fira Code</vt:lpstr>
      <vt:lpstr>Fira Code Light</vt:lpstr>
      <vt:lpstr>Fira Code Medium</vt:lpstr>
      <vt:lpstr>Fira Code Retina</vt:lpstr>
      <vt:lpstr>默认设计模板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Ying</dc:creator>
  <cp:lastModifiedBy>阎明铸</cp:lastModifiedBy>
  <cp:revision>5</cp:revision>
  <dcterms:created xsi:type="dcterms:W3CDTF">2025-11-14T03:29:40Z</dcterms:created>
  <dcterms:modified xsi:type="dcterms:W3CDTF">2025-11-14T08:04:41Z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11530AABC06342C7A9B0B8E8BE5E4091</vt:lpwstr>
  </property>
</Properties>
</file>